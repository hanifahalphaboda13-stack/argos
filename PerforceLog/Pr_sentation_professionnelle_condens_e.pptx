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8288000" cy="10287000"/>
  <p:notesSz cx="10287000" cy="1828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fr-FR" sz="2000" spc="-1" strike="noStrike">
                <a:latin typeface="Arial"/>
              </a:rPr>
              <a:t>Cli</a:t>
            </a:r>
            <a:r>
              <a:rPr b="0" lang="fr-FR" sz="2000" spc="-1" strike="noStrike">
                <a:latin typeface="Arial"/>
              </a:rPr>
              <a:t>c</a:t>
            </a:r>
            <a:r>
              <a:rPr b="0" lang="fr-FR" sz="2000" spc="-1" strike="noStrike">
                <a:latin typeface="Arial"/>
              </a:rPr>
              <a:t>k</a:t>
            </a:r>
            <a:r>
              <a:rPr b="0" lang="fr-FR" sz="2000" spc="-1" strike="noStrike">
                <a:latin typeface="Arial"/>
              </a:rPr>
              <a:t> </a:t>
            </a:r>
            <a:r>
              <a:rPr b="0" lang="fr-FR" sz="2000" spc="-1" strike="noStrike">
                <a:latin typeface="Arial"/>
              </a:rPr>
              <a:t>t</a:t>
            </a:r>
            <a:r>
              <a:rPr b="0" lang="fr-FR" sz="2000" spc="-1" strike="noStrike">
                <a:latin typeface="Arial"/>
              </a:rPr>
              <a:t>o</a:t>
            </a:r>
            <a:r>
              <a:rPr b="0" lang="fr-FR" sz="2000" spc="-1" strike="noStrike">
                <a:latin typeface="Arial"/>
              </a:rPr>
              <a:t> </a:t>
            </a:r>
            <a:r>
              <a:rPr b="0" lang="fr-FR" sz="2000" spc="-1" strike="noStrike">
                <a:latin typeface="Arial"/>
              </a:rPr>
              <a:t>e</a:t>
            </a:r>
            <a:r>
              <a:rPr b="0" lang="fr-FR" sz="2000" spc="-1" strike="noStrike">
                <a:latin typeface="Arial"/>
              </a:rPr>
              <a:t>d</a:t>
            </a:r>
            <a:r>
              <a:rPr b="0" lang="fr-FR" sz="2000" spc="-1" strike="noStrike">
                <a:latin typeface="Arial"/>
              </a:rPr>
              <a:t>i</a:t>
            </a:r>
            <a:r>
              <a:rPr b="0" lang="fr-FR" sz="2000" spc="-1" strike="noStrike">
                <a:latin typeface="Arial"/>
              </a:rPr>
              <a:t>t </a:t>
            </a:r>
            <a:r>
              <a:rPr b="0" lang="fr-FR" sz="2000" spc="-1" strike="noStrike">
                <a:latin typeface="Arial"/>
              </a:rPr>
              <a:t>t</a:t>
            </a:r>
            <a:r>
              <a:rPr b="0" lang="fr-FR" sz="2000" spc="-1" strike="noStrike">
                <a:latin typeface="Arial"/>
              </a:rPr>
              <a:t>h</a:t>
            </a:r>
            <a:r>
              <a:rPr b="0" lang="fr-FR" sz="2000" spc="-1" strike="noStrike">
                <a:latin typeface="Arial"/>
              </a:rPr>
              <a:t>e</a:t>
            </a:r>
            <a:r>
              <a:rPr b="0" lang="fr-FR" sz="2000" spc="-1" strike="noStrike">
                <a:latin typeface="Arial"/>
              </a:rPr>
              <a:t> </a:t>
            </a:r>
            <a:r>
              <a:rPr b="0" lang="fr-FR" sz="2000" spc="-1" strike="noStrike">
                <a:latin typeface="Arial"/>
              </a:rPr>
              <a:t>n</a:t>
            </a:r>
            <a:r>
              <a:rPr b="0" lang="fr-FR" sz="2000" spc="-1" strike="noStrike">
                <a:latin typeface="Arial"/>
              </a:rPr>
              <a:t>o</a:t>
            </a:r>
            <a:r>
              <a:rPr b="0" lang="fr-FR" sz="2000" spc="-1" strike="noStrike">
                <a:latin typeface="Arial"/>
              </a:rPr>
              <a:t>t</a:t>
            </a:r>
            <a:r>
              <a:rPr b="0" lang="fr-FR" sz="2000" spc="-1" strike="noStrike">
                <a:latin typeface="Arial"/>
              </a:rPr>
              <a:t>e</a:t>
            </a:r>
            <a:r>
              <a:rPr b="0" lang="fr-FR" sz="2000" spc="-1" strike="noStrike">
                <a:latin typeface="Arial"/>
              </a:rPr>
              <a:t>s</a:t>
            </a:r>
            <a:r>
              <a:rPr b="0" lang="fr-FR" sz="2000" spc="-1" strike="noStrike">
                <a:latin typeface="Arial"/>
              </a:rPr>
              <a:t> </a:t>
            </a:r>
            <a:r>
              <a:rPr b="0" lang="fr-FR" sz="2000" spc="-1" strike="noStrike">
                <a:latin typeface="Arial"/>
              </a:rPr>
              <a:t>f</a:t>
            </a:r>
            <a:r>
              <a:rPr b="0" lang="fr-FR" sz="2000" spc="-1" strike="noStrike">
                <a:latin typeface="Arial"/>
              </a:rPr>
              <a:t>o</a:t>
            </a:r>
            <a:r>
              <a:rPr b="0" lang="fr-FR" sz="2000" spc="-1" strike="noStrike">
                <a:latin typeface="Arial"/>
              </a:rPr>
              <a:t>r</a:t>
            </a:r>
            <a:r>
              <a:rPr b="0" lang="fr-FR" sz="2000" spc="-1" strike="noStrike">
                <a:latin typeface="Arial"/>
              </a:rPr>
              <a:t>m</a:t>
            </a:r>
            <a:r>
              <a:rPr b="0" lang="fr-FR" sz="2000" spc="-1" strike="noStrike">
                <a:latin typeface="Arial"/>
              </a:rPr>
              <a:t>a</a:t>
            </a:r>
            <a:r>
              <a:rPr b="0" lang="fr-FR" sz="2000" spc="-1" strike="noStrike">
                <a:latin typeface="Arial"/>
              </a:rPr>
              <a:t>t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fr-FR" sz="1400" spc="-1" strike="noStrike">
                <a:latin typeface="Times New Roman"/>
              </a:rPr>
              <a:t>&lt;header&gt;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fr-FR" sz="1400" spc="-1" strike="noStrike">
                <a:latin typeface="Times New Roman"/>
              </a:rPr>
              <a:t>&lt;date/time&gt;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fr-FR" sz="1400" spc="-1" strike="noStrike">
                <a:latin typeface="Times New Roman"/>
              </a:rPr>
              <a:t>&lt;footer&gt;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E3FFC343-6625-46A9-8E3A-94AB9B8F817C}" type="slidenum">
              <a:rPr b="0" lang="fr-FR" sz="1400" spc="-1" strike="noStrike">
                <a:latin typeface="Times New Roman"/>
              </a:rPr>
              <a:t>&lt;number&gt;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fr-FR" sz="2000" spc="-1" strike="noStrike">
                <a:latin typeface="Arial"/>
              </a:rPr>
              <a:t>Présentation de suivi. Sujet : détecter automatiquement des antipatterns de collaboration à partir des logs serveur Perforce (~1,7 Go) du cours NAD. Deux phases : métriques type Prometheus, puis patterns temporels CEP avec BeepBeep.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5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785AD86-8629-4434-9088-7BCCD3A3150C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fr-FR" sz="2000" spc="-1" strike="noStrike">
                <a:latin typeface="Arial"/>
              </a:rPr>
              <a:t>Le dépôt Perforce du cours NAD est partagé par des équipes de dev de jeux. Les logs serveur tracent toute l'activité mais sont durs à exploiter. Objectif : repérer 5 antipatterns de collaboration. L'approche en deux phases a été suggérée par Sylvain : d'abord reproduire ce que ferait Prometheus, puis aller plus loin avec le CEP pour les séquences temporelles.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5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1FF3F36-56F0-4E55-979D-7A64050A7270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fr-FR" sz="2000" spc="-1" strike="noStrike">
                <a:latin typeface="Arial"/>
              </a:rPr>
              <a:t>Pipeline : LecteurLog lit le log en streaming (1,7 Go en ~14 s) et produit des PerforceEvent, traités par BeepBeep. Phase 1 reproduit les 4 types OpenMetrics de Prometheus. Phase 2 ajoute du CEP. Différence clé : un Counter répond à « combien ? » sans mémoire ; le CEP répond à « dans quel ordre ? » en gardant un état (automate) — c'est ce qui permet de voir un edit suivi d'un revert.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6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8CCBF2B-B0AB-449E-B3A6-E1C8523C63B2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fr-FR" sz="2000" spc="-1" strike="noStrike">
                <a:latin typeface="Arial"/>
              </a:rPr>
              <a:t>Sur le log réel de juin 2026 : 17 187 événements extraits, 16 262 uniques après dédup, 1 224 submits, 4 069 edits. Phase 2 : 217 séquences edit→revert, 250 fichiers en apathy (cohérent avec la gauge de fin), et des fenêtres de rush — jusqu'à 60 users distincts le 27/04 à 13h. Traitement en ~14 s. Prochaines étapes : valider un échantillon d'alertes, produire les figures, anonymiser les usernames et rédiger le tool paper.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6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3E3E533-2D0E-4082-966B-4DCE85580BCB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fr-FR" sz="2000" spc="-1" strike="noStrike">
                <a:latin typeface="Arial"/>
              </a:rPr>
              <a:t>Trois lectures complémentaires des résultats. (1) La courbe des submits par heure montre la procrastination collective : presque rien la nuit, puis montée jusqu'au pic de 107 submits à 15h le 27/04, jour de remise. La Gauge des checkouts ouverts (à droite) monte ET redescend, pic 500 à 16h — c'est ce qui distingue une Gauge d'un compteur. (2) Les Lone Wolf extrêmes : achavy a 364 edits pour 2 submits seulement (ratio 182), mafleury 230/2, mtiger1 216/3 — ils travaillent beaucoup en local sans partager. (3) Le Summary : la plupart des commandes sont quasi instantanées (p50 ~0,1 s), mais le sync a une longue traîne : p99 à 1102 s, à cause des gros téléchargements d'assets Unreal.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6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5AFD3C6-1FB6-4F17-A8B0-F75CBA228CDB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fr-FR" sz="2000" spc="-1" strike="noStrike">
                <a:latin typeface="Arial"/>
              </a:rPr>
              <a:t>L'Histogram répartit les 16 232 commandes mesurées en 16 buckets de durée. La quasi-totalité est très rapide : environ 89 % des commandes s'exécutent en moins de 0,25 s (les trois premières barres). Une petite minorité de commandes très lentes — surtout des sync de gros assets Unreal — forme la longue traîne à droite. C'est elle qui tire la moyenne à 7,36 s alors que la médiane n'est que de 0,094 s : preuve qu'une moyenne seule serait trompeuse, d'où l'intérêt de l'histogramme et des quantiles.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6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06A1982-1C95-4FF6-8A0E-2CF36A073721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4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333440" y="0"/>
            <a:ext cx="799920" cy="75960"/>
          </a:xfrm>
          <a:prstGeom prst="rect">
            <a:avLst/>
          </a:prstGeom>
          <a:solidFill>
            <a:srgbClr val="b7c94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5" name="Image 0" descr="preencoded.png"/>
          <p:cNvPicPr/>
          <p:nvPr/>
        </p:nvPicPr>
        <p:blipFill>
          <a:blip r:embed="rId1">
            <a:alphaModFix amt="96000"/>
          </a:blip>
          <a:stretch/>
        </p:blipFill>
        <p:spPr>
          <a:xfrm>
            <a:off x="14592240" y="914400"/>
            <a:ext cx="2361960" cy="1416960"/>
          </a:xfrm>
          <a:prstGeom prst="rect">
            <a:avLst/>
          </a:prstGeom>
          <a:ln>
            <a:noFill/>
          </a:ln>
        </p:spPr>
      </p:pic>
      <p:sp>
        <p:nvSpPr>
          <p:cNvPr id="46" name="CustomShape 2"/>
          <p:cNvSpPr/>
          <p:nvPr/>
        </p:nvSpPr>
        <p:spPr>
          <a:xfrm>
            <a:off x="1333440" y="1219320"/>
            <a:ext cx="1718280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574" strike="noStrike">
                <a:solidFill>
                  <a:srgbClr val="b7c94b"/>
                </a:solidFill>
                <a:latin typeface="Courier New"/>
                <a:ea typeface="Courier New"/>
              </a:rPr>
              <a:t>SUIVI DE RECHERCHE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47" name="CustomShape 3"/>
          <p:cNvSpPr/>
          <p:nvPr/>
        </p:nvSpPr>
        <p:spPr>
          <a:xfrm>
            <a:off x="1333440" y="2916720"/>
            <a:ext cx="13734720" cy="186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6000"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fr-FR" sz="6900" spc="-103" strike="noStrike">
                <a:solidFill>
                  <a:srgbClr val="ffffff"/>
                </a:solidFill>
                <a:latin typeface="Georgia"/>
                <a:ea typeface="Georgia"/>
              </a:rPr>
              <a:t>Détection d'antipatterns à partir de </a:t>
            </a:r>
            <a:r>
              <a:rPr b="1" lang="fr-FR" sz="6900" spc="-103" strike="noStrike">
                <a:solidFill>
                  <a:srgbClr val="ffffff"/>
                </a:solidFill>
                <a:latin typeface="Georgia"/>
                <a:ea typeface="Georgia"/>
              </a:rPr>
              <a:t>logs Perforce</a:t>
            </a:r>
            <a:endParaRPr b="0" lang="fr-FR" sz="6900" spc="-1" strike="noStrike">
              <a:latin typeface="Arial"/>
            </a:endParaRPr>
          </a:p>
        </p:txBody>
      </p:sp>
      <p:sp>
        <p:nvSpPr>
          <p:cNvPr id="48" name="CustomShape 4"/>
          <p:cNvSpPr/>
          <p:nvPr/>
        </p:nvSpPr>
        <p:spPr>
          <a:xfrm>
            <a:off x="1333440" y="5196600"/>
            <a:ext cx="1142640" cy="28080"/>
          </a:xfrm>
          <a:prstGeom prst="rect">
            <a:avLst/>
          </a:prstGeom>
          <a:solidFill>
            <a:srgbClr val="b7c94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5"/>
          <p:cNvSpPr/>
          <p:nvPr/>
        </p:nvSpPr>
        <p:spPr>
          <a:xfrm>
            <a:off x="1333440" y="5606280"/>
            <a:ext cx="11576160" cy="108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7000"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i="1" lang="fr-FR" sz="2850" spc="-1" strike="noStrike">
                <a:solidFill>
                  <a:srgbClr val="cfd6af"/>
                </a:solidFill>
                <a:latin typeface="Georgia"/>
                <a:ea typeface="Georgia"/>
              </a:rPr>
              <a:t>Métriques type </a:t>
            </a:r>
            <a:r>
              <a:rPr b="0" i="1" lang="fr-FR" sz="2850" spc="-1" strike="noStrike">
                <a:solidFill>
                  <a:srgbClr val="cfd6af"/>
                </a:solidFill>
                <a:latin typeface="Georgia"/>
                <a:ea typeface="Georgia"/>
              </a:rPr>
              <a:t>Prometheus, puis </a:t>
            </a:r>
            <a:r>
              <a:rPr b="0" i="1" lang="fr-FR" sz="2850" spc="-1" strike="noStrike">
                <a:solidFill>
                  <a:srgbClr val="cfd6af"/>
                </a:solidFill>
                <a:latin typeface="Georgia"/>
                <a:ea typeface="Georgia"/>
              </a:rPr>
              <a:t>patterns temporels </a:t>
            </a:r>
            <a:r>
              <a:rPr b="0" i="1" lang="fr-FR" sz="2850" spc="-1" strike="noStrike">
                <a:solidFill>
                  <a:srgbClr val="cfd6af"/>
                </a:solidFill>
                <a:latin typeface="Georgia"/>
                <a:ea typeface="Georgia"/>
              </a:rPr>
              <a:t>CEP avec BeepBeep </a:t>
            </a:r>
            <a:r>
              <a:rPr b="0" i="1" lang="fr-FR" sz="2850" spc="-1" strike="noStrike">
                <a:solidFill>
                  <a:srgbClr val="cfd6af"/>
                </a:solidFill>
                <a:latin typeface="Georgia"/>
                <a:ea typeface="Georgia"/>
              </a:rPr>
              <a:t>— une approche en </a:t>
            </a:r>
            <a:r>
              <a:rPr b="0" i="1" lang="fr-FR" sz="2850" spc="-1" strike="noStrike">
                <a:solidFill>
                  <a:srgbClr val="cfd6af"/>
                </a:solidFill>
                <a:latin typeface="Georgia"/>
                <a:ea typeface="Georgia"/>
              </a:rPr>
              <a:t>deux phases.</a:t>
            </a:r>
            <a:endParaRPr b="0" lang="fr-FR" sz="2850" spc="-1" strike="noStrike">
              <a:latin typeface="Arial"/>
            </a:endParaRPr>
          </a:p>
        </p:txBody>
      </p:sp>
      <p:sp>
        <p:nvSpPr>
          <p:cNvPr id="50" name="CustomShape 6"/>
          <p:cNvSpPr/>
          <p:nvPr/>
        </p:nvSpPr>
        <p:spPr>
          <a:xfrm>
            <a:off x="1333440" y="8058240"/>
            <a:ext cx="15620760" cy="900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7"/>
          <p:cNvSpPr/>
          <p:nvPr/>
        </p:nvSpPr>
        <p:spPr>
          <a:xfrm>
            <a:off x="1333440" y="8372520"/>
            <a:ext cx="3340800" cy="36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250" spc="-1" strike="noStrike">
                <a:solidFill>
                  <a:srgbClr val="ffffff"/>
                </a:solidFill>
                <a:latin typeface="Arial"/>
                <a:ea typeface="Arial"/>
              </a:rPr>
              <a:t>Hanifah ALPHA-BODA</a:t>
            </a:r>
            <a:endParaRPr b="0" lang="fr-FR" sz="2250" spc="-1" strike="noStrike">
              <a:latin typeface="Arial"/>
            </a:endParaRPr>
          </a:p>
        </p:txBody>
      </p:sp>
      <p:sp>
        <p:nvSpPr>
          <p:cNvPr id="52" name="CustomShape 8"/>
          <p:cNvSpPr/>
          <p:nvPr/>
        </p:nvSpPr>
        <p:spPr>
          <a:xfrm>
            <a:off x="1333440" y="8734320"/>
            <a:ext cx="3340800" cy="37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aeb489"/>
                </a:solidFill>
                <a:latin typeface="Arial"/>
                <a:ea typeface="Arial"/>
              </a:rPr>
              <a:t>UQAC · Juin 2026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53" name="CustomShape 9"/>
          <p:cNvSpPr/>
          <p:nvPr/>
        </p:nvSpPr>
        <p:spPr>
          <a:xfrm>
            <a:off x="11626200" y="8496360"/>
            <a:ext cx="53276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350" spc="267" strike="noStrike">
                <a:solidFill>
                  <a:srgbClr val="8e9468"/>
                </a:solidFill>
                <a:latin typeface="Courier New"/>
                <a:ea typeface="Courier New"/>
              </a:rPr>
              <a:t>SUPERVISEURS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54" name="CustomShape 10"/>
          <p:cNvSpPr/>
          <p:nvPr/>
        </p:nvSpPr>
        <p:spPr>
          <a:xfrm>
            <a:off x="11626200" y="8772480"/>
            <a:ext cx="532764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i="1" lang="fr-FR" sz="1950" spc="-1" strike="noStrike">
                <a:solidFill>
                  <a:srgbClr val="edefe0"/>
                </a:solidFill>
                <a:latin typeface="Arial"/>
                <a:ea typeface="Arial"/>
              </a:rPr>
              <a:t>Sylvain HALLÉ · Yannick </a:t>
            </a:r>
            <a:r>
              <a:rPr b="1" i="1" lang="fr-FR" sz="1950" spc="-1" strike="noStrike">
                <a:solidFill>
                  <a:srgbClr val="edefe0"/>
                </a:solidFill>
                <a:latin typeface="Arial"/>
                <a:ea typeface="Arial"/>
              </a:rPr>
              <a:t>FRANCILETTE</a:t>
            </a:r>
            <a:endParaRPr b="0" lang="fr-FR" sz="1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15525720" y="762120"/>
            <a:ext cx="1428480" cy="856800"/>
          </a:xfrm>
          <a:prstGeom prst="rect">
            <a:avLst/>
          </a:prstGeom>
          <a:ln>
            <a:noFill/>
          </a:ln>
        </p:spPr>
      </p:pic>
      <p:sp>
        <p:nvSpPr>
          <p:cNvPr id="56" name="CustomShape 1"/>
          <p:cNvSpPr/>
          <p:nvPr/>
        </p:nvSpPr>
        <p:spPr>
          <a:xfrm>
            <a:off x="1333440" y="1200240"/>
            <a:ext cx="48744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540" strike="noStrike">
                <a:solidFill>
                  <a:srgbClr val="8a9c1f"/>
                </a:solidFill>
                <a:latin typeface="Courier New"/>
                <a:ea typeface="Courier New"/>
              </a:rPr>
              <a:t>01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2011680" y="914400"/>
            <a:ext cx="5630400" cy="60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26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4500" spc="-46" strike="noStrike">
                <a:solidFill>
                  <a:srgbClr val="4c5d0d"/>
                </a:solidFill>
                <a:latin typeface="Georgia"/>
                <a:ea typeface="Georgia"/>
              </a:rPr>
              <a:t>Contexte &amp; approche</a:t>
            </a:r>
            <a:endParaRPr b="0" lang="fr-FR" sz="4500" spc="-1" strike="noStrike">
              <a:latin typeface="Arial"/>
            </a:endParaRPr>
          </a:p>
        </p:txBody>
      </p:sp>
      <p:sp>
        <p:nvSpPr>
          <p:cNvPr id="58" name="CustomShape 3"/>
          <p:cNvSpPr/>
          <p:nvPr/>
        </p:nvSpPr>
        <p:spPr>
          <a:xfrm>
            <a:off x="1333440" y="1828800"/>
            <a:ext cx="15620760" cy="18720"/>
          </a:xfrm>
          <a:prstGeom prst="rect">
            <a:avLst/>
          </a:prstGeom>
          <a:solidFill>
            <a:srgbClr val="ddd8c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CustomShape 4"/>
          <p:cNvSpPr/>
          <p:nvPr/>
        </p:nvSpPr>
        <p:spPr>
          <a:xfrm>
            <a:off x="1333440" y="2381400"/>
            <a:ext cx="832860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LE </a:t>
            </a: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PR</a:t>
            </a: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OB</a:t>
            </a: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LÈ</a:t>
            </a: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ME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0" name="CustomShape 5"/>
          <p:cNvSpPr/>
          <p:nvPr/>
        </p:nvSpPr>
        <p:spPr>
          <a:xfrm>
            <a:off x="1333440" y="2809800"/>
            <a:ext cx="7798320" cy="1366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2000"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fr-FR" sz="2330" spc="-1" strike="noStrike">
                <a:solidFill>
                  <a:srgbClr val="3c402a"/>
                </a:solidFill>
                <a:latin typeface="Arial"/>
                <a:ea typeface="Arial"/>
              </a:rPr>
              <a:t>Les projets</a:t>
            </a:r>
            <a:r>
              <a:rPr b="1" lang="fr-FR" sz="2330" spc="-1" strike="noStrike">
                <a:solidFill>
                  <a:srgbClr val="4c5d0d"/>
                </a:solidFill>
                <a:latin typeface="Arial"/>
                <a:ea typeface="Arial"/>
              </a:rPr>
              <a:t> </a:t>
            </a:r>
            <a:r>
              <a:rPr b="0" lang="fr-FR" sz="2330" spc="-1" strike="noStrike">
                <a:solidFill>
                  <a:srgbClr val="3c402a"/>
                </a:solidFill>
                <a:latin typeface="Arial"/>
                <a:ea typeface="Arial"/>
              </a:rPr>
              <a:t>reposent sur un dépôt </a:t>
            </a:r>
            <a:r>
              <a:rPr b="1" lang="fr-FR" sz="2330" spc="-1" strike="noStrike">
                <a:solidFill>
                  <a:srgbClr val="4c5d0d"/>
                </a:solidFill>
                <a:latin typeface="Arial"/>
                <a:ea typeface="Arial"/>
              </a:rPr>
              <a:t>Perforce </a:t>
            </a:r>
            <a:r>
              <a:rPr b="0" lang="fr-FR" sz="2330" spc="-1" strike="noStrike">
                <a:solidFill>
                  <a:srgbClr val="3c402a"/>
                </a:solidFill>
                <a:latin typeface="Arial"/>
                <a:ea typeface="Arial"/>
              </a:rPr>
              <a:t>partagé. Les logs </a:t>
            </a:r>
            <a:r>
              <a:rPr b="0" lang="fr-FR" sz="2330" spc="-1" strike="noStrike">
                <a:solidFill>
                  <a:srgbClr val="3c402a"/>
                </a:solidFill>
                <a:latin typeface="Arial"/>
                <a:ea typeface="Arial"/>
              </a:rPr>
              <a:t>serveur ( </a:t>
            </a:r>
            <a:r>
              <a:rPr b="1" lang="fr-FR" sz="2330" spc="-1" strike="noStrike">
                <a:solidFill>
                  <a:srgbClr val="4c5d0d"/>
                </a:solidFill>
                <a:latin typeface="Arial"/>
                <a:ea typeface="Arial"/>
              </a:rPr>
              <a:t>~1,7 Go </a:t>
            </a:r>
            <a:r>
              <a:rPr b="0" lang="fr-FR" sz="2330" spc="-1" strike="noStrike">
                <a:solidFill>
                  <a:srgbClr val="3c402a"/>
                </a:solidFill>
                <a:latin typeface="Arial"/>
                <a:ea typeface="Arial"/>
              </a:rPr>
              <a:t>) tracent toute l'activité d'équipe, mais restent </a:t>
            </a:r>
            <a:r>
              <a:rPr b="0" lang="fr-FR" sz="2330" spc="-1" strike="noStrike">
                <a:solidFill>
                  <a:srgbClr val="3c402a"/>
                </a:solidFill>
                <a:latin typeface="Arial"/>
                <a:ea typeface="Arial"/>
              </a:rPr>
              <a:t>difficiles à exploiter tels quels.</a:t>
            </a:r>
            <a:endParaRPr b="0" lang="fr-FR" sz="2330" spc="-1" strike="noStrike">
              <a:latin typeface="Arial"/>
            </a:endParaRPr>
          </a:p>
        </p:txBody>
      </p:sp>
      <p:sp>
        <p:nvSpPr>
          <p:cNvPr id="61" name="CustomShape 6"/>
          <p:cNvSpPr/>
          <p:nvPr/>
        </p:nvSpPr>
        <p:spPr>
          <a:xfrm>
            <a:off x="1333440" y="4519440"/>
            <a:ext cx="7571160" cy="1989000"/>
          </a:xfrm>
          <a:prstGeom prst="roundRect">
            <a:avLst>
              <a:gd name="adj" fmla="val 1915"/>
            </a:avLst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CustomShape 7"/>
          <p:cNvSpPr/>
          <p:nvPr/>
        </p:nvSpPr>
        <p:spPr>
          <a:xfrm>
            <a:off x="1714680" y="4881600"/>
            <a:ext cx="749016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358" strike="noStrike">
                <a:solidFill>
                  <a:srgbClr val="c3d45b"/>
                </a:solidFill>
                <a:latin typeface="Courier New"/>
                <a:ea typeface="Courier New"/>
              </a:rPr>
              <a:t>OBJECTIF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3" name="CustomShape 8"/>
          <p:cNvSpPr/>
          <p:nvPr/>
        </p:nvSpPr>
        <p:spPr>
          <a:xfrm>
            <a:off x="1714680" y="5291280"/>
            <a:ext cx="7013520" cy="89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1000"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fr-FR" sz="2330" spc="-1" strike="noStrike">
                <a:solidFill>
                  <a:srgbClr val="eff1e2"/>
                </a:solidFill>
                <a:latin typeface="Arial"/>
                <a:ea typeface="Arial"/>
              </a:rPr>
              <a:t>Détecter </a:t>
            </a:r>
            <a:r>
              <a:rPr b="1" lang="fr-FR" sz="2330" spc="-1" strike="noStrike">
                <a:solidFill>
                  <a:srgbClr val="ffffff"/>
                </a:solidFill>
                <a:latin typeface="Arial"/>
                <a:ea typeface="Arial"/>
              </a:rPr>
              <a:t>automatiqu</a:t>
            </a:r>
            <a:r>
              <a:rPr b="1" lang="fr-FR" sz="2330" spc="-1" strike="noStrike">
                <a:solidFill>
                  <a:srgbClr val="ffffff"/>
                </a:solidFill>
                <a:latin typeface="Arial"/>
                <a:ea typeface="Arial"/>
              </a:rPr>
              <a:t>ement </a:t>
            </a:r>
            <a:r>
              <a:rPr b="0" lang="fr-FR" sz="2330" spc="-1" strike="noStrike">
                <a:solidFill>
                  <a:srgbClr val="eff1e2"/>
                </a:solidFill>
                <a:latin typeface="Arial"/>
                <a:ea typeface="Arial"/>
              </a:rPr>
              <a:t>des </a:t>
            </a:r>
            <a:r>
              <a:rPr b="0" lang="fr-FR" sz="2330" spc="-1" strike="noStrike">
                <a:solidFill>
                  <a:srgbClr val="eff1e2"/>
                </a:solidFill>
                <a:latin typeface="Arial"/>
                <a:ea typeface="Arial"/>
              </a:rPr>
              <a:t>antipatterns </a:t>
            </a:r>
            <a:r>
              <a:rPr b="0" lang="fr-FR" sz="2330" spc="-1" strike="noStrike">
                <a:solidFill>
                  <a:srgbClr val="eff1e2"/>
                </a:solidFill>
                <a:latin typeface="Arial"/>
                <a:ea typeface="Arial"/>
              </a:rPr>
              <a:t>de </a:t>
            </a:r>
            <a:r>
              <a:rPr b="0" lang="fr-FR" sz="2330" spc="-1" strike="noStrike">
                <a:solidFill>
                  <a:srgbClr val="eff1e2"/>
                </a:solidFill>
                <a:latin typeface="Arial"/>
                <a:ea typeface="Arial"/>
              </a:rPr>
              <a:t>collaboratio</a:t>
            </a:r>
            <a:r>
              <a:rPr b="0" lang="fr-FR" sz="2330" spc="-1" strike="noStrike">
                <a:solidFill>
                  <a:srgbClr val="eff1e2"/>
                </a:solidFill>
                <a:latin typeface="Arial"/>
                <a:ea typeface="Arial"/>
              </a:rPr>
              <a:t>n </a:t>
            </a:r>
            <a:r>
              <a:rPr b="0" lang="fr-FR" sz="2330" spc="-1" strike="noStrike">
                <a:solidFill>
                  <a:srgbClr val="eff1e2"/>
                </a:solidFill>
                <a:latin typeface="Arial"/>
                <a:ea typeface="Arial"/>
              </a:rPr>
              <a:t>directement </a:t>
            </a:r>
            <a:r>
              <a:rPr b="0" lang="fr-FR" sz="2330" spc="-1" strike="noStrike">
                <a:solidFill>
                  <a:srgbClr val="eff1e2"/>
                </a:solidFill>
                <a:latin typeface="Arial"/>
                <a:ea typeface="Arial"/>
              </a:rPr>
              <a:t>à partir des </a:t>
            </a:r>
            <a:r>
              <a:rPr b="0" lang="fr-FR" sz="2330" spc="-1" strike="noStrike">
                <a:solidFill>
                  <a:srgbClr val="eff1e2"/>
                </a:solidFill>
                <a:latin typeface="Arial"/>
                <a:ea typeface="Arial"/>
              </a:rPr>
              <a:t>logs.</a:t>
            </a:r>
            <a:endParaRPr b="0" lang="fr-FR" sz="2330" spc="-1" strike="noStrike">
              <a:latin typeface="Arial"/>
            </a:endParaRPr>
          </a:p>
        </p:txBody>
      </p:sp>
      <p:sp>
        <p:nvSpPr>
          <p:cNvPr id="64" name="CustomShape 9"/>
          <p:cNvSpPr/>
          <p:nvPr/>
        </p:nvSpPr>
        <p:spPr>
          <a:xfrm>
            <a:off x="1333440" y="6890040"/>
            <a:ext cx="832860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APPROCHE EN </a:t>
            </a: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DEUX PHASES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5" name="CustomShape 10"/>
          <p:cNvSpPr/>
          <p:nvPr/>
        </p:nvSpPr>
        <p:spPr>
          <a:xfrm>
            <a:off x="1333440" y="7337880"/>
            <a:ext cx="3690360" cy="1404720"/>
          </a:xfrm>
          <a:prstGeom prst="roundRect">
            <a:avLst>
              <a:gd name="adj" fmla="val 2034"/>
            </a:avLst>
          </a:prstGeom>
          <a:solidFill>
            <a:srgbClr val="fcfbf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CustomShape 11"/>
          <p:cNvSpPr/>
          <p:nvPr/>
        </p:nvSpPr>
        <p:spPr>
          <a:xfrm>
            <a:off x="1333440" y="8733240"/>
            <a:ext cx="3690360" cy="9000"/>
          </a:xfrm>
          <a:prstGeom prst="rect">
            <a:avLst/>
          </a:prstGeom>
          <a:solidFill>
            <a:srgbClr val="d8d2b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CustomShape 12"/>
          <p:cNvSpPr/>
          <p:nvPr/>
        </p:nvSpPr>
        <p:spPr>
          <a:xfrm>
            <a:off x="1333440" y="7337880"/>
            <a:ext cx="3690360" cy="9000"/>
          </a:xfrm>
          <a:prstGeom prst="rect">
            <a:avLst/>
          </a:prstGeom>
          <a:solidFill>
            <a:srgbClr val="d8d2b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CustomShape 13"/>
          <p:cNvSpPr/>
          <p:nvPr/>
        </p:nvSpPr>
        <p:spPr>
          <a:xfrm>
            <a:off x="1333440" y="7337880"/>
            <a:ext cx="37800" cy="1404720"/>
          </a:xfrm>
          <a:prstGeom prst="rect">
            <a:avLst/>
          </a:prstGeom>
          <a:solidFill>
            <a:srgbClr val="8a9c1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CustomShape 14"/>
          <p:cNvSpPr/>
          <p:nvPr/>
        </p:nvSpPr>
        <p:spPr>
          <a:xfrm>
            <a:off x="5014440" y="7337880"/>
            <a:ext cx="9000" cy="1404720"/>
          </a:xfrm>
          <a:prstGeom prst="rect">
            <a:avLst/>
          </a:prstGeom>
          <a:solidFill>
            <a:srgbClr val="d8d2b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CustomShape 15"/>
          <p:cNvSpPr/>
          <p:nvPr/>
        </p:nvSpPr>
        <p:spPr>
          <a:xfrm>
            <a:off x="1600200" y="7556760"/>
            <a:ext cx="3503880" cy="30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79" spc="-1" strike="noStrike">
                <a:solidFill>
                  <a:srgbClr val="4c5d0d"/>
                </a:solidFill>
                <a:latin typeface="Georgia"/>
                <a:ea typeface="Georgia"/>
              </a:rPr>
              <a:t>Phase 1</a:t>
            </a:r>
            <a:endParaRPr b="0" lang="fr-FR" sz="1879" spc="-1" strike="noStrike">
              <a:latin typeface="Arial"/>
            </a:endParaRPr>
          </a:p>
        </p:txBody>
      </p:sp>
      <p:sp>
        <p:nvSpPr>
          <p:cNvPr id="71" name="CustomShape 16"/>
          <p:cNvSpPr/>
          <p:nvPr/>
        </p:nvSpPr>
        <p:spPr>
          <a:xfrm>
            <a:off x="1600200" y="7880760"/>
            <a:ext cx="3281040" cy="68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Métriques type 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Prometheus 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(compteurs, 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agrégations)</a:t>
            </a:r>
            <a:endParaRPr b="0" lang="fr-FR" sz="1879" spc="-1" strike="noStrike">
              <a:latin typeface="Arial"/>
            </a:endParaRPr>
          </a:p>
        </p:txBody>
      </p:sp>
      <p:sp>
        <p:nvSpPr>
          <p:cNvPr id="72" name="CustomShape 17"/>
          <p:cNvSpPr/>
          <p:nvPr/>
        </p:nvSpPr>
        <p:spPr>
          <a:xfrm>
            <a:off x="5214600" y="7337880"/>
            <a:ext cx="3690360" cy="1404720"/>
          </a:xfrm>
          <a:prstGeom prst="roundRect">
            <a:avLst>
              <a:gd name="adj" fmla="val 2034"/>
            </a:avLst>
          </a:prstGeom>
          <a:solidFill>
            <a:srgbClr val="fcfbf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CustomShape 18"/>
          <p:cNvSpPr/>
          <p:nvPr/>
        </p:nvSpPr>
        <p:spPr>
          <a:xfrm>
            <a:off x="5214600" y="8733240"/>
            <a:ext cx="3690360" cy="9000"/>
          </a:xfrm>
          <a:prstGeom prst="rect">
            <a:avLst/>
          </a:prstGeom>
          <a:solidFill>
            <a:srgbClr val="d8d2b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CustomShape 19"/>
          <p:cNvSpPr/>
          <p:nvPr/>
        </p:nvSpPr>
        <p:spPr>
          <a:xfrm>
            <a:off x="5214600" y="7337880"/>
            <a:ext cx="3690360" cy="9000"/>
          </a:xfrm>
          <a:prstGeom prst="rect">
            <a:avLst/>
          </a:prstGeom>
          <a:solidFill>
            <a:srgbClr val="d8d2b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CustomShape 20"/>
          <p:cNvSpPr/>
          <p:nvPr/>
        </p:nvSpPr>
        <p:spPr>
          <a:xfrm>
            <a:off x="5214600" y="7337880"/>
            <a:ext cx="37800" cy="1404720"/>
          </a:xfrm>
          <a:prstGeom prst="rect">
            <a:avLst/>
          </a:prstGeom>
          <a:solidFill>
            <a:srgbClr val="8a9c1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CustomShape 21"/>
          <p:cNvSpPr/>
          <p:nvPr/>
        </p:nvSpPr>
        <p:spPr>
          <a:xfrm>
            <a:off x="8895600" y="7337880"/>
            <a:ext cx="9000" cy="1404720"/>
          </a:xfrm>
          <a:prstGeom prst="rect">
            <a:avLst/>
          </a:prstGeom>
          <a:solidFill>
            <a:srgbClr val="d8d2b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CustomShape 22"/>
          <p:cNvSpPr/>
          <p:nvPr/>
        </p:nvSpPr>
        <p:spPr>
          <a:xfrm>
            <a:off x="5481360" y="7556760"/>
            <a:ext cx="3503880" cy="30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79" spc="-1" strike="noStrike">
                <a:solidFill>
                  <a:srgbClr val="4c5d0d"/>
                </a:solidFill>
                <a:latin typeface="Georgia"/>
                <a:ea typeface="Georgia"/>
              </a:rPr>
              <a:t>Ph</a:t>
            </a:r>
            <a:r>
              <a:rPr b="1" lang="fr-FR" sz="1879" spc="-1" strike="noStrike">
                <a:solidFill>
                  <a:srgbClr val="4c5d0d"/>
                </a:solidFill>
                <a:latin typeface="Georgia"/>
                <a:ea typeface="Georgia"/>
              </a:rPr>
              <a:t>as</a:t>
            </a:r>
            <a:r>
              <a:rPr b="1" lang="fr-FR" sz="1879" spc="-1" strike="noStrike">
                <a:solidFill>
                  <a:srgbClr val="4c5d0d"/>
                </a:solidFill>
                <a:latin typeface="Georgia"/>
                <a:ea typeface="Georgia"/>
              </a:rPr>
              <a:t>e 2</a:t>
            </a:r>
            <a:endParaRPr b="0" lang="fr-FR" sz="1879" spc="-1" strike="noStrike">
              <a:latin typeface="Arial"/>
            </a:endParaRPr>
          </a:p>
        </p:txBody>
      </p:sp>
      <p:sp>
        <p:nvSpPr>
          <p:cNvPr id="78" name="CustomShape 23"/>
          <p:cNvSpPr/>
          <p:nvPr/>
        </p:nvSpPr>
        <p:spPr>
          <a:xfrm>
            <a:off x="5481360" y="7880760"/>
            <a:ext cx="3281040" cy="68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CE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P 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— 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séq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uen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ces 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tem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por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elle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s 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(Be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epB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eep</a:t>
            </a:r>
            <a:r>
              <a:rPr b="0" lang="fr-FR" sz="1879" spc="-1" strike="noStrike">
                <a:solidFill>
                  <a:srgbClr val="54583e"/>
                </a:solidFill>
                <a:latin typeface="Arial"/>
                <a:ea typeface="Arial"/>
              </a:rPr>
              <a:t>)</a:t>
            </a:r>
            <a:endParaRPr b="0" lang="fr-FR" sz="1879" spc="-1" strike="noStrike">
              <a:latin typeface="Arial"/>
            </a:endParaRPr>
          </a:p>
        </p:txBody>
      </p:sp>
      <p:sp>
        <p:nvSpPr>
          <p:cNvPr id="79" name="CustomShape 24"/>
          <p:cNvSpPr/>
          <p:nvPr/>
        </p:nvSpPr>
        <p:spPr>
          <a:xfrm>
            <a:off x="9743400" y="2381400"/>
            <a:ext cx="7210800" cy="7067160"/>
          </a:xfrm>
          <a:prstGeom prst="roundRect">
            <a:avLst>
              <a:gd name="adj" fmla="val 674"/>
            </a:avLst>
          </a:prstGeom>
          <a:solidFill>
            <a:srgbClr val="fcfbf4"/>
          </a:solidFill>
          <a:ln w="9360">
            <a:solidFill>
              <a:srgbClr val="e3df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CustomShape 25"/>
          <p:cNvSpPr/>
          <p:nvPr/>
        </p:nvSpPr>
        <p:spPr>
          <a:xfrm>
            <a:off x="10190880" y="2809800"/>
            <a:ext cx="694692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CINQ ANTIPATTERNS CIBLÉS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81" name="CustomShape 26"/>
          <p:cNvSpPr/>
          <p:nvPr/>
        </p:nvSpPr>
        <p:spPr>
          <a:xfrm>
            <a:off x="10190880" y="4362480"/>
            <a:ext cx="6315480" cy="9000"/>
          </a:xfrm>
          <a:prstGeom prst="rect">
            <a:avLst/>
          </a:prstGeom>
          <a:solidFill>
            <a:srgbClr val="ece7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CustomShape 27"/>
          <p:cNvSpPr/>
          <p:nvPr/>
        </p:nvSpPr>
        <p:spPr>
          <a:xfrm>
            <a:off x="10190880" y="3524400"/>
            <a:ext cx="41868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3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pc="-1" strike="noStrike">
                <a:solidFill>
                  <a:srgbClr val="8a9c1f"/>
                </a:solidFill>
                <a:latin typeface="Georgia"/>
                <a:ea typeface="Georgia"/>
              </a:rPr>
              <a:t>01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83" name="CustomShape 28"/>
          <p:cNvSpPr/>
          <p:nvPr/>
        </p:nvSpPr>
        <p:spPr>
          <a:xfrm>
            <a:off x="10743480" y="3524400"/>
            <a:ext cx="357156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Pr</a:t>
            </a: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ocr</a:t>
            </a: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ast</a:t>
            </a: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ina</a:t>
            </a: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tio</a:t>
            </a: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n </a:t>
            </a: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col</a:t>
            </a: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lec</a:t>
            </a: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tiv</a:t>
            </a: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e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84" name="CustomShape 29"/>
          <p:cNvSpPr/>
          <p:nvPr/>
        </p:nvSpPr>
        <p:spPr>
          <a:xfrm>
            <a:off x="10743480" y="3857760"/>
            <a:ext cx="3571560" cy="37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Rus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h 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de 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sub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mits 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ava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nt la 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dea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dlin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85" name="CustomShape 30"/>
          <p:cNvSpPr/>
          <p:nvPr/>
        </p:nvSpPr>
        <p:spPr>
          <a:xfrm>
            <a:off x="10190880" y="5526720"/>
            <a:ext cx="6315480" cy="9000"/>
          </a:xfrm>
          <a:prstGeom prst="rect">
            <a:avLst/>
          </a:prstGeom>
          <a:solidFill>
            <a:srgbClr val="ece7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CustomShape 31"/>
          <p:cNvSpPr/>
          <p:nvPr/>
        </p:nvSpPr>
        <p:spPr>
          <a:xfrm>
            <a:off x="10190880" y="4688640"/>
            <a:ext cx="41868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3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pc="-1" strike="noStrike">
                <a:solidFill>
                  <a:srgbClr val="8a9c1f"/>
                </a:solidFill>
                <a:latin typeface="Georgia"/>
                <a:ea typeface="Georgia"/>
              </a:rPr>
              <a:t>02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87" name="CustomShape 32"/>
          <p:cNvSpPr/>
          <p:nvPr/>
        </p:nvSpPr>
        <p:spPr>
          <a:xfrm>
            <a:off x="10743480" y="4688640"/>
            <a:ext cx="251964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Warm Bodies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88" name="CustomShape 33"/>
          <p:cNvSpPr/>
          <p:nvPr/>
        </p:nvSpPr>
        <p:spPr>
          <a:xfrm>
            <a:off x="10743480" y="5022000"/>
            <a:ext cx="2519640" cy="37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Dév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elop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peur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s 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peu 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actif</a:t>
            </a: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89" name="CustomShape 34"/>
          <p:cNvSpPr/>
          <p:nvPr/>
        </p:nvSpPr>
        <p:spPr>
          <a:xfrm>
            <a:off x="10190880" y="6691320"/>
            <a:ext cx="6315480" cy="9000"/>
          </a:xfrm>
          <a:prstGeom prst="rect">
            <a:avLst/>
          </a:prstGeom>
          <a:solidFill>
            <a:srgbClr val="ece7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CustomShape 35"/>
          <p:cNvSpPr/>
          <p:nvPr/>
        </p:nvSpPr>
        <p:spPr>
          <a:xfrm>
            <a:off x="10190880" y="5853240"/>
            <a:ext cx="41868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3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pc="-1" strike="noStrike">
                <a:solidFill>
                  <a:srgbClr val="8a9c1f"/>
                </a:solidFill>
                <a:latin typeface="Georgia"/>
                <a:ea typeface="Georgia"/>
              </a:rPr>
              <a:t>03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91" name="CustomShape 36"/>
          <p:cNvSpPr/>
          <p:nvPr/>
        </p:nvSpPr>
        <p:spPr>
          <a:xfrm>
            <a:off x="10743480" y="5853240"/>
            <a:ext cx="353160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Lone Wolf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92" name="CustomShape 37"/>
          <p:cNvSpPr/>
          <p:nvPr/>
        </p:nvSpPr>
        <p:spPr>
          <a:xfrm>
            <a:off x="10743480" y="6186600"/>
            <a:ext cx="3531600" cy="37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Beaucoup d'edits, peu de submits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93" name="CustomShape 38"/>
          <p:cNvSpPr/>
          <p:nvPr/>
        </p:nvSpPr>
        <p:spPr>
          <a:xfrm>
            <a:off x="10190880" y="7855920"/>
            <a:ext cx="6315480" cy="9000"/>
          </a:xfrm>
          <a:prstGeom prst="rect">
            <a:avLst/>
          </a:prstGeom>
          <a:solidFill>
            <a:srgbClr val="ece7d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CustomShape 39"/>
          <p:cNvSpPr/>
          <p:nvPr/>
        </p:nvSpPr>
        <p:spPr>
          <a:xfrm>
            <a:off x="10190880" y="7017480"/>
            <a:ext cx="41868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3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pc="-1" strike="noStrike">
                <a:solidFill>
                  <a:srgbClr val="8a9c1f"/>
                </a:solidFill>
                <a:latin typeface="Georgia"/>
                <a:ea typeface="Georgia"/>
              </a:rPr>
              <a:t>04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95" name="CustomShape 40"/>
          <p:cNvSpPr/>
          <p:nvPr/>
        </p:nvSpPr>
        <p:spPr>
          <a:xfrm>
            <a:off x="10743480" y="7017480"/>
            <a:ext cx="315720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Bystander Apathy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96" name="CustomShape 41"/>
          <p:cNvSpPr/>
          <p:nvPr/>
        </p:nvSpPr>
        <p:spPr>
          <a:xfrm>
            <a:off x="10743480" y="7350840"/>
            <a:ext cx="3157200" cy="37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Checkout (edit) jamais soumis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97" name="CustomShape 42"/>
          <p:cNvSpPr/>
          <p:nvPr/>
        </p:nvSpPr>
        <p:spPr>
          <a:xfrm>
            <a:off x="10190880" y="8182080"/>
            <a:ext cx="41868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3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pc="-1" strike="noStrike">
                <a:solidFill>
                  <a:srgbClr val="8a9c1f"/>
                </a:solidFill>
                <a:latin typeface="Georgia"/>
                <a:ea typeface="Georgia"/>
              </a:rPr>
              <a:t>05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98" name="CustomShape 43"/>
          <p:cNvSpPr/>
          <p:nvPr/>
        </p:nvSpPr>
        <p:spPr>
          <a:xfrm>
            <a:off x="10743480" y="8182080"/>
            <a:ext cx="319428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pc="-1" strike="noStrike">
                <a:solidFill>
                  <a:srgbClr val="4c5d0d"/>
                </a:solidFill>
                <a:latin typeface="Arial"/>
                <a:ea typeface="Arial"/>
              </a:rPr>
              <a:t>Edit → revert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99" name="CustomShape 44"/>
          <p:cNvSpPr/>
          <p:nvPr/>
        </p:nvSpPr>
        <p:spPr>
          <a:xfrm>
            <a:off x="10743480" y="8515440"/>
            <a:ext cx="3194280" cy="37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62674a"/>
                </a:solidFill>
                <a:latin typeface="Arial"/>
                <a:ea typeface="Arial"/>
              </a:rPr>
              <a:t>Fichier ouvert puis abandonné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00" name="CustomShape 45"/>
          <p:cNvSpPr/>
          <p:nvPr/>
        </p:nvSpPr>
        <p:spPr>
          <a:xfrm>
            <a:off x="14074200" y="9629640"/>
            <a:ext cx="316800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134" strike="noStrike">
                <a:solidFill>
                  <a:srgbClr val="9c9676"/>
                </a:solidFill>
                <a:latin typeface="Courier New"/>
                <a:ea typeface="Courier New"/>
              </a:rPr>
              <a:t>UQAC · Juin 2026 — 2 / 6</a:t>
            </a:r>
            <a:endParaRPr b="0" lang="fr-FR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Image 0" descr="preencoded.png"/>
          <p:cNvPicPr/>
          <p:nvPr/>
        </p:nvPicPr>
        <p:blipFill>
          <a:blip r:embed="rId1"/>
          <a:stretch/>
        </p:blipFill>
        <p:spPr>
          <a:xfrm>
            <a:off x="15525720" y="762120"/>
            <a:ext cx="1428480" cy="856800"/>
          </a:xfrm>
          <a:prstGeom prst="rect">
            <a:avLst/>
          </a:prstGeom>
          <a:ln>
            <a:noFill/>
          </a:ln>
        </p:spPr>
      </p:pic>
      <p:sp>
        <p:nvSpPr>
          <p:cNvPr id="102" name="CustomShape 1"/>
          <p:cNvSpPr/>
          <p:nvPr/>
        </p:nvSpPr>
        <p:spPr>
          <a:xfrm>
            <a:off x="1333440" y="1200240"/>
            <a:ext cx="48744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540" strike="noStrike">
                <a:solidFill>
                  <a:srgbClr val="8a9c1f"/>
                </a:solidFill>
                <a:latin typeface="Courier New"/>
                <a:ea typeface="Courier New"/>
              </a:rPr>
              <a:t>02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2011680" y="914400"/>
            <a:ext cx="4340520" cy="60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26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4500" spc="-46" strike="noStrike">
                <a:solidFill>
                  <a:srgbClr val="4c5d0d"/>
                </a:solidFill>
                <a:latin typeface="Georgia"/>
                <a:ea typeface="Georgia"/>
              </a:rPr>
              <a:t>Méthode &amp; outil</a:t>
            </a:r>
            <a:endParaRPr b="0" lang="fr-FR" sz="4500" spc="-1" strike="noStrike">
              <a:latin typeface="Arial"/>
            </a:endParaRPr>
          </a:p>
        </p:txBody>
      </p:sp>
      <p:sp>
        <p:nvSpPr>
          <p:cNvPr id="104" name="CustomShape 3"/>
          <p:cNvSpPr/>
          <p:nvPr/>
        </p:nvSpPr>
        <p:spPr>
          <a:xfrm>
            <a:off x="1333440" y="1828800"/>
            <a:ext cx="15620760" cy="18720"/>
          </a:xfrm>
          <a:prstGeom prst="rect">
            <a:avLst/>
          </a:prstGeom>
          <a:solidFill>
            <a:srgbClr val="ddd8c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CustomShape 4"/>
          <p:cNvSpPr/>
          <p:nvPr/>
        </p:nvSpPr>
        <p:spPr>
          <a:xfrm>
            <a:off x="1333440" y="2266920"/>
            <a:ext cx="2361960" cy="1266480"/>
          </a:xfrm>
          <a:prstGeom prst="roundRect">
            <a:avLst>
              <a:gd name="adj" fmla="val 3008"/>
            </a:avLst>
          </a:prstGeom>
          <a:solidFill>
            <a:srgbClr val="fcfbf4"/>
          </a:solidFill>
          <a:ln w="9360">
            <a:solidFill>
              <a:srgbClr val="e3df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CustomShape 5"/>
          <p:cNvSpPr/>
          <p:nvPr/>
        </p:nvSpPr>
        <p:spPr>
          <a:xfrm>
            <a:off x="1498320" y="2486160"/>
            <a:ext cx="203256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4c5d0d"/>
                </a:solidFill>
                <a:latin typeface="Courier New"/>
                <a:ea typeface="Courier New"/>
              </a:rPr>
              <a:t>log.txt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07" name="CustomShape 6"/>
          <p:cNvSpPr/>
          <p:nvPr/>
        </p:nvSpPr>
        <p:spPr>
          <a:xfrm>
            <a:off x="1498320" y="2743200"/>
            <a:ext cx="203256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80" spc="-1" strike="noStrike">
                <a:solidFill>
                  <a:srgbClr val="62674a"/>
                </a:solidFill>
                <a:latin typeface="Arial"/>
                <a:ea typeface="Arial"/>
              </a:rPr>
              <a:t>~1,7 Go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08" name="CustomShape 7"/>
          <p:cNvSpPr/>
          <p:nvPr/>
        </p:nvSpPr>
        <p:spPr>
          <a:xfrm>
            <a:off x="3867480" y="2266920"/>
            <a:ext cx="361440" cy="130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250" spc="-1" strike="noStrike">
                <a:solidFill>
                  <a:srgbClr val="8a9c1f"/>
                </a:solidFill>
                <a:latin typeface="Arial"/>
                <a:ea typeface="Arial"/>
              </a:rPr>
              <a:t>→</a:t>
            </a:r>
            <a:endParaRPr b="0" lang="fr-FR" sz="2250" spc="-1" strike="noStrike">
              <a:latin typeface="Arial"/>
            </a:endParaRPr>
          </a:p>
        </p:txBody>
      </p:sp>
      <p:sp>
        <p:nvSpPr>
          <p:cNvPr id="109" name="CustomShape 8"/>
          <p:cNvSpPr/>
          <p:nvPr/>
        </p:nvSpPr>
        <p:spPr>
          <a:xfrm>
            <a:off x="4324680" y="2266920"/>
            <a:ext cx="2731680" cy="1266480"/>
          </a:xfrm>
          <a:prstGeom prst="roundRect">
            <a:avLst>
              <a:gd name="adj" fmla="val 3008"/>
            </a:avLst>
          </a:prstGeom>
          <a:solidFill>
            <a:srgbClr val="fcfbf4"/>
          </a:solidFill>
          <a:ln w="9360">
            <a:solidFill>
              <a:srgbClr val="e3df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CustomShape 9"/>
          <p:cNvSpPr/>
          <p:nvPr/>
        </p:nvSpPr>
        <p:spPr>
          <a:xfrm>
            <a:off x="4470840" y="2486160"/>
            <a:ext cx="243936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4c5d0d"/>
                </a:solidFill>
                <a:latin typeface="Courier New"/>
                <a:ea typeface="Courier New"/>
              </a:rPr>
              <a:t>LecteurLog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11" name="CustomShape 10"/>
          <p:cNvSpPr/>
          <p:nvPr/>
        </p:nvSpPr>
        <p:spPr>
          <a:xfrm>
            <a:off x="4470840" y="2743200"/>
            <a:ext cx="243936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80" spc="-1" strike="noStrike">
                <a:solidFill>
                  <a:srgbClr val="62674a"/>
                </a:solidFill>
                <a:latin typeface="Arial"/>
                <a:ea typeface="Arial"/>
              </a:rPr>
              <a:t>streaming + métriques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12" name="CustomShape 11"/>
          <p:cNvSpPr/>
          <p:nvPr/>
        </p:nvSpPr>
        <p:spPr>
          <a:xfrm>
            <a:off x="7228440" y="2266920"/>
            <a:ext cx="361440" cy="130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250" spc="-1" strike="noStrike">
                <a:solidFill>
                  <a:srgbClr val="8a9c1f"/>
                </a:solidFill>
                <a:latin typeface="Arial"/>
                <a:ea typeface="Arial"/>
              </a:rPr>
              <a:t>→</a:t>
            </a:r>
            <a:endParaRPr b="0" lang="fr-FR" sz="2250" spc="-1" strike="noStrike">
              <a:latin typeface="Arial"/>
            </a:endParaRPr>
          </a:p>
        </p:txBody>
      </p:sp>
      <p:sp>
        <p:nvSpPr>
          <p:cNvPr id="113" name="CustomShape 12"/>
          <p:cNvSpPr/>
          <p:nvPr/>
        </p:nvSpPr>
        <p:spPr>
          <a:xfrm>
            <a:off x="7685640" y="2266920"/>
            <a:ext cx="2731680" cy="1266480"/>
          </a:xfrm>
          <a:prstGeom prst="roundRect">
            <a:avLst>
              <a:gd name="adj" fmla="val 3008"/>
            </a:avLst>
          </a:prstGeom>
          <a:solidFill>
            <a:srgbClr val="fcfbf4"/>
          </a:solidFill>
          <a:ln w="9360">
            <a:solidFill>
              <a:srgbClr val="e3df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CustomShape 13"/>
          <p:cNvSpPr/>
          <p:nvPr/>
        </p:nvSpPr>
        <p:spPr>
          <a:xfrm>
            <a:off x="7831800" y="2486160"/>
            <a:ext cx="243936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4c5d0d"/>
                </a:solidFill>
                <a:latin typeface="Courier New"/>
                <a:ea typeface="Courier New"/>
              </a:rPr>
              <a:t>PerforceEvent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15" name="CustomShape 14"/>
          <p:cNvSpPr/>
          <p:nvPr/>
        </p:nvSpPr>
        <p:spPr>
          <a:xfrm>
            <a:off x="7831800" y="2743200"/>
            <a:ext cx="243936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80" spc="-1" strike="noStrike">
                <a:solidFill>
                  <a:srgbClr val="62674a"/>
                </a:solidFill>
                <a:latin typeface="Arial"/>
                <a:ea typeface="Arial"/>
              </a:rPr>
              <a:t>16 262 uniques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16" name="CustomShape 15"/>
          <p:cNvSpPr/>
          <p:nvPr/>
        </p:nvSpPr>
        <p:spPr>
          <a:xfrm>
            <a:off x="10589040" y="2266920"/>
            <a:ext cx="361440" cy="130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250" spc="-1" strike="noStrike">
                <a:solidFill>
                  <a:srgbClr val="8a9c1f"/>
                </a:solidFill>
                <a:latin typeface="Arial"/>
                <a:ea typeface="Arial"/>
              </a:rPr>
              <a:t>→</a:t>
            </a:r>
            <a:endParaRPr b="0" lang="fr-FR" sz="2250" spc="-1" strike="noStrike">
              <a:latin typeface="Arial"/>
            </a:endParaRPr>
          </a:p>
        </p:txBody>
      </p:sp>
      <p:sp>
        <p:nvSpPr>
          <p:cNvPr id="117" name="CustomShape 16"/>
          <p:cNvSpPr/>
          <p:nvPr/>
        </p:nvSpPr>
        <p:spPr>
          <a:xfrm>
            <a:off x="11046240" y="2266920"/>
            <a:ext cx="2916720" cy="1266480"/>
          </a:xfrm>
          <a:prstGeom prst="roundRect">
            <a:avLst>
              <a:gd name="adj" fmla="val 3008"/>
            </a:avLst>
          </a:prstGeom>
          <a:solidFill>
            <a:srgbClr val="4c5d0d"/>
          </a:solidFill>
          <a:ln w="9360">
            <a:solidFill>
              <a:srgbClr val="4c5d0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CustomShape 17"/>
          <p:cNvSpPr/>
          <p:nvPr/>
        </p:nvSpPr>
        <p:spPr>
          <a:xfrm>
            <a:off x="11183400" y="2486160"/>
            <a:ext cx="264276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ffffff"/>
                </a:solidFill>
                <a:latin typeface="Courier New"/>
                <a:ea typeface="Courier New"/>
              </a:rPr>
              <a:t>BeepBeep 3.13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19" name="CustomShape 18"/>
          <p:cNvSpPr/>
          <p:nvPr/>
        </p:nvSpPr>
        <p:spPr>
          <a:xfrm>
            <a:off x="11183400" y="2743200"/>
            <a:ext cx="264276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80" spc="-1" strike="noStrike">
                <a:solidFill>
                  <a:srgbClr val="c3d45b"/>
                </a:solidFill>
                <a:latin typeface="Arial"/>
                <a:ea typeface="Arial"/>
              </a:rPr>
              <a:t>Phase 1 + Phase 2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20" name="CustomShape 19"/>
          <p:cNvSpPr/>
          <p:nvPr/>
        </p:nvSpPr>
        <p:spPr>
          <a:xfrm>
            <a:off x="14134680" y="2266920"/>
            <a:ext cx="361440" cy="130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250" spc="-1" strike="noStrike">
                <a:solidFill>
                  <a:srgbClr val="8a9c1f"/>
                </a:solidFill>
                <a:latin typeface="Arial"/>
                <a:ea typeface="Arial"/>
              </a:rPr>
              <a:t>→</a:t>
            </a:r>
            <a:endParaRPr b="0" lang="fr-FR" sz="2250" spc="-1" strike="noStrike">
              <a:latin typeface="Arial"/>
            </a:endParaRPr>
          </a:p>
        </p:txBody>
      </p:sp>
      <p:sp>
        <p:nvSpPr>
          <p:cNvPr id="121" name="CustomShape 20"/>
          <p:cNvSpPr/>
          <p:nvPr/>
        </p:nvSpPr>
        <p:spPr>
          <a:xfrm>
            <a:off x="14591880" y="2266920"/>
            <a:ext cx="2361960" cy="1266480"/>
          </a:xfrm>
          <a:prstGeom prst="roundRect">
            <a:avLst>
              <a:gd name="adj" fmla="val 3008"/>
            </a:avLst>
          </a:prstGeom>
          <a:solidFill>
            <a:srgbClr val="fcfbf4"/>
          </a:solidFill>
          <a:ln w="9360">
            <a:solidFill>
              <a:srgbClr val="e3df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CustomShape 21"/>
          <p:cNvSpPr/>
          <p:nvPr/>
        </p:nvSpPr>
        <p:spPr>
          <a:xfrm>
            <a:off x="14756760" y="2486160"/>
            <a:ext cx="203256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4c5d0d"/>
                </a:solidFill>
                <a:latin typeface="Courier New"/>
                <a:ea typeface="Courier New"/>
              </a:rPr>
              <a:t>JSON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23" name="CustomShape 22"/>
          <p:cNvSpPr/>
          <p:nvPr/>
        </p:nvSpPr>
        <p:spPr>
          <a:xfrm>
            <a:off x="14811120" y="2743200"/>
            <a:ext cx="1923840" cy="60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80" spc="-1" strike="noStrike">
                <a:solidFill>
                  <a:srgbClr val="62674a"/>
                </a:solidFill>
                <a:latin typeface="Arial"/>
                <a:ea typeface="Arial"/>
              </a:rPr>
              <a:t>6 fichiers — events + 4 métriques + alertes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24" name="CustomShape 23"/>
          <p:cNvSpPr/>
          <p:nvPr/>
        </p:nvSpPr>
        <p:spPr>
          <a:xfrm>
            <a:off x="1333440" y="3971880"/>
            <a:ext cx="948564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PHASE 1 — 4 TYPES OPENMETRICS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25" name="CustomShape 24"/>
          <p:cNvSpPr/>
          <p:nvPr/>
        </p:nvSpPr>
        <p:spPr>
          <a:xfrm>
            <a:off x="1333440" y="4457880"/>
            <a:ext cx="4225680" cy="1410120"/>
          </a:xfrm>
          <a:prstGeom prst="roundRect">
            <a:avLst>
              <a:gd name="adj" fmla="val 2026"/>
            </a:avLst>
          </a:prstGeom>
          <a:solidFill>
            <a:srgbClr val="fcfbf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CustomShape 25"/>
          <p:cNvSpPr/>
          <p:nvPr/>
        </p:nvSpPr>
        <p:spPr>
          <a:xfrm>
            <a:off x="1333440" y="5858640"/>
            <a:ext cx="4225680" cy="900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CustomShape 26"/>
          <p:cNvSpPr/>
          <p:nvPr/>
        </p:nvSpPr>
        <p:spPr>
          <a:xfrm>
            <a:off x="1333440" y="4457880"/>
            <a:ext cx="4225680" cy="37800"/>
          </a:xfrm>
          <a:prstGeom prst="rect">
            <a:avLst/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CustomShape 27"/>
          <p:cNvSpPr/>
          <p:nvPr/>
        </p:nvSpPr>
        <p:spPr>
          <a:xfrm>
            <a:off x="1333440" y="4457880"/>
            <a:ext cx="9000" cy="141012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CustomShape 28"/>
          <p:cNvSpPr/>
          <p:nvPr/>
        </p:nvSpPr>
        <p:spPr>
          <a:xfrm>
            <a:off x="5550120" y="4457880"/>
            <a:ext cx="9000" cy="141012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CustomShape 29"/>
          <p:cNvSpPr/>
          <p:nvPr/>
        </p:nvSpPr>
        <p:spPr>
          <a:xfrm>
            <a:off x="1571760" y="4705200"/>
            <a:ext cx="412416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8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029" spc="-1" strike="noStrike">
                <a:solidFill>
                  <a:srgbClr val="4c5d0d"/>
                </a:solidFill>
                <a:latin typeface="Georgia"/>
                <a:ea typeface="Georgia"/>
              </a:rPr>
              <a:t>Counter</a:t>
            </a:r>
            <a:endParaRPr b="0" lang="fr-FR" sz="2029" spc="-1" strike="noStrike">
              <a:latin typeface="Arial"/>
            </a:endParaRPr>
          </a:p>
        </p:txBody>
      </p:sp>
      <p:sp>
        <p:nvSpPr>
          <p:cNvPr id="131" name="CustomShape 30"/>
          <p:cNvSpPr/>
          <p:nvPr/>
        </p:nvSpPr>
        <p:spPr>
          <a:xfrm>
            <a:off x="1571760" y="5057640"/>
            <a:ext cx="3861720" cy="62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8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62674a"/>
                </a:solidFill>
                <a:latin typeface="Arial"/>
                <a:ea typeface="Arial"/>
              </a:rPr>
              <a:t>Cumul monotone — events, submits, edits </a:t>
            </a:r>
            <a:r>
              <a:rPr b="0" lang="fr-FR" sz="1430" spc="-1" strike="noStrike">
                <a:solidFill>
                  <a:srgbClr val="62674a"/>
                </a:solidFill>
                <a:latin typeface="Courier New"/>
                <a:ea typeface="Courier New"/>
              </a:rPr>
              <a:t>_total</a:t>
            </a:r>
            <a:endParaRPr b="0" lang="fr-FR" sz="1430" spc="-1" strike="noStrike">
              <a:latin typeface="Arial"/>
            </a:endParaRPr>
          </a:p>
        </p:txBody>
      </p:sp>
      <p:sp>
        <p:nvSpPr>
          <p:cNvPr id="132" name="CustomShape 31"/>
          <p:cNvSpPr/>
          <p:nvPr/>
        </p:nvSpPr>
        <p:spPr>
          <a:xfrm>
            <a:off x="5730840" y="4457880"/>
            <a:ext cx="4225680" cy="1410120"/>
          </a:xfrm>
          <a:prstGeom prst="roundRect">
            <a:avLst>
              <a:gd name="adj" fmla="val 2026"/>
            </a:avLst>
          </a:prstGeom>
          <a:solidFill>
            <a:srgbClr val="fcfbf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CustomShape 32"/>
          <p:cNvSpPr/>
          <p:nvPr/>
        </p:nvSpPr>
        <p:spPr>
          <a:xfrm>
            <a:off x="5730840" y="5858640"/>
            <a:ext cx="4225680" cy="900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CustomShape 33"/>
          <p:cNvSpPr/>
          <p:nvPr/>
        </p:nvSpPr>
        <p:spPr>
          <a:xfrm>
            <a:off x="5730840" y="4457880"/>
            <a:ext cx="4225680" cy="37800"/>
          </a:xfrm>
          <a:prstGeom prst="rect">
            <a:avLst/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CustomShape 34"/>
          <p:cNvSpPr/>
          <p:nvPr/>
        </p:nvSpPr>
        <p:spPr>
          <a:xfrm>
            <a:off x="5730840" y="4457880"/>
            <a:ext cx="9000" cy="141012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CustomShape 35"/>
          <p:cNvSpPr/>
          <p:nvPr/>
        </p:nvSpPr>
        <p:spPr>
          <a:xfrm>
            <a:off x="9947520" y="4457880"/>
            <a:ext cx="9000" cy="141012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CustomShape 36"/>
          <p:cNvSpPr/>
          <p:nvPr/>
        </p:nvSpPr>
        <p:spPr>
          <a:xfrm>
            <a:off x="5969160" y="4705200"/>
            <a:ext cx="412452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8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029" spc="-1" strike="noStrike">
                <a:solidFill>
                  <a:srgbClr val="4c5d0d"/>
                </a:solidFill>
                <a:latin typeface="Georgia"/>
                <a:ea typeface="Georgia"/>
              </a:rPr>
              <a:t>Gauge</a:t>
            </a:r>
            <a:endParaRPr b="0" lang="fr-FR" sz="2029" spc="-1" strike="noStrike">
              <a:latin typeface="Arial"/>
            </a:endParaRPr>
          </a:p>
        </p:txBody>
      </p:sp>
      <p:sp>
        <p:nvSpPr>
          <p:cNvPr id="138" name="CustomShape 37"/>
          <p:cNvSpPr/>
          <p:nvPr/>
        </p:nvSpPr>
        <p:spPr>
          <a:xfrm>
            <a:off x="5969160" y="5057640"/>
            <a:ext cx="3862080" cy="62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62674a"/>
                </a:solidFill>
                <a:latin typeface="Arial"/>
                <a:ea typeface="Arial"/>
              </a:rPr>
              <a:t>Checkouts ouverts — pic 500 fichiers, 79 users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139" name="CustomShape 38"/>
          <p:cNvSpPr/>
          <p:nvPr/>
        </p:nvSpPr>
        <p:spPr>
          <a:xfrm>
            <a:off x="1333440" y="6039720"/>
            <a:ext cx="4225680" cy="1410120"/>
          </a:xfrm>
          <a:prstGeom prst="roundRect">
            <a:avLst>
              <a:gd name="adj" fmla="val 2026"/>
            </a:avLst>
          </a:prstGeom>
          <a:solidFill>
            <a:srgbClr val="fcfbf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CustomShape 39"/>
          <p:cNvSpPr/>
          <p:nvPr/>
        </p:nvSpPr>
        <p:spPr>
          <a:xfrm>
            <a:off x="1333440" y="7440840"/>
            <a:ext cx="4225680" cy="900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CustomShape 40"/>
          <p:cNvSpPr/>
          <p:nvPr/>
        </p:nvSpPr>
        <p:spPr>
          <a:xfrm>
            <a:off x="1333440" y="6039720"/>
            <a:ext cx="4225680" cy="37800"/>
          </a:xfrm>
          <a:prstGeom prst="rect">
            <a:avLst/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CustomShape 41"/>
          <p:cNvSpPr/>
          <p:nvPr/>
        </p:nvSpPr>
        <p:spPr>
          <a:xfrm>
            <a:off x="1333440" y="6039720"/>
            <a:ext cx="9000" cy="141012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CustomShape 42"/>
          <p:cNvSpPr/>
          <p:nvPr/>
        </p:nvSpPr>
        <p:spPr>
          <a:xfrm>
            <a:off x="5550120" y="6039720"/>
            <a:ext cx="9000" cy="141012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CustomShape 43"/>
          <p:cNvSpPr/>
          <p:nvPr/>
        </p:nvSpPr>
        <p:spPr>
          <a:xfrm>
            <a:off x="1571760" y="6287400"/>
            <a:ext cx="412416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8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029" spc="-1" strike="noStrike">
                <a:solidFill>
                  <a:srgbClr val="4c5d0d"/>
                </a:solidFill>
                <a:latin typeface="Georgia"/>
                <a:ea typeface="Georgia"/>
              </a:rPr>
              <a:t>Histogram</a:t>
            </a:r>
            <a:endParaRPr b="0" lang="fr-FR" sz="2029" spc="-1" strike="noStrike">
              <a:latin typeface="Arial"/>
            </a:endParaRPr>
          </a:p>
        </p:txBody>
      </p:sp>
      <p:sp>
        <p:nvSpPr>
          <p:cNvPr id="145" name="CustomShape 44"/>
          <p:cNvSpPr/>
          <p:nvPr/>
        </p:nvSpPr>
        <p:spPr>
          <a:xfrm>
            <a:off x="1571760" y="6639840"/>
            <a:ext cx="3861720" cy="62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62674a"/>
                </a:solidFill>
                <a:latin typeface="Arial"/>
                <a:ea typeface="Arial"/>
              </a:rPr>
              <a:t>Durées en 16 buckets — 16 232 observations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146" name="CustomShape 45"/>
          <p:cNvSpPr/>
          <p:nvPr/>
        </p:nvSpPr>
        <p:spPr>
          <a:xfrm>
            <a:off x="5730840" y="6039720"/>
            <a:ext cx="4225680" cy="1410120"/>
          </a:xfrm>
          <a:prstGeom prst="roundRect">
            <a:avLst>
              <a:gd name="adj" fmla="val 2026"/>
            </a:avLst>
          </a:prstGeom>
          <a:solidFill>
            <a:srgbClr val="fcfbf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CustomShape 46"/>
          <p:cNvSpPr/>
          <p:nvPr/>
        </p:nvSpPr>
        <p:spPr>
          <a:xfrm>
            <a:off x="5730840" y="7440840"/>
            <a:ext cx="4225680" cy="900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CustomShape 47"/>
          <p:cNvSpPr/>
          <p:nvPr/>
        </p:nvSpPr>
        <p:spPr>
          <a:xfrm>
            <a:off x="5730840" y="6039720"/>
            <a:ext cx="4225680" cy="37800"/>
          </a:xfrm>
          <a:prstGeom prst="rect">
            <a:avLst/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CustomShape 48"/>
          <p:cNvSpPr/>
          <p:nvPr/>
        </p:nvSpPr>
        <p:spPr>
          <a:xfrm>
            <a:off x="5730840" y="6039720"/>
            <a:ext cx="9000" cy="141012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CustomShape 49"/>
          <p:cNvSpPr/>
          <p:nvPr/>
        </p:nvSpPr>
        <p:spPr>
          <a:xfrm>
            <a:off x="9947520" y="6039720"/>
            <a:ext cx="9000" cy="141012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CustomShape 50"/>
          <p:cNvSpPr/>
          <p:nvPr/>
        </p:nvSpPr>
        <p:spPr>
          <a:xfrm>
            <a:off x="5969160" y="6287400"/>
            <a:ext cx="412452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8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029" spc="-1" strike="noStrike">
                <a:solidFill>
                  <a:srgbClr val="4c5d0d"/>
                </a:solidFill>
                <a:latin typeface="Georgia"/>
                <a:ea typeface="Georgia"/>
              </a:rPr>
              <a:t>Summary</a:t>
            </a:r>
            <a:endParaRPr b="0" lang="fr-FR" sz="2029" spc="-1" strike="noStrike">
              <a:latin typeface="Arial"/>
            </a:endParaRPr>
          </a:p>
        </p:txBody>
      </p:sp>
      <p:sp>
        <p:nvSpPr>
          <p:cNvPr id="152" name="CustomShape 51"/>
          <p:cNvSpPr/>
          <p:nvPr/>
        </p:nvSpPr>
        <p:spPr>
          <a:xfrm>
            <a:off x="5969160" y="6639840"/>
            <a:ext cx="4124520" cy="33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7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62674a"/>
                </a:solidFill>
                <a:latin typeface="Arial"/>
                <a:ea typeface="Arial"/>
              </a:rPr>
              <a:t>Quantiles p50 / p95 / p99 exacts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153" name="CustomShape 52"/>
          <p:cNvSpPr/>
          <p:nvPr/>
        </p:nvSpPr>
        <p:spPr>
          <a:xfrm>
            <a:off x="10566720" y="3971880"/>
            <a:ext cx="702612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PHASE 2 — LA DIFFÉRENCE CLÉ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54" name="CustomShape 53"/>
          <p:cNvSpPr/>
          <p:nvPr/>
        </p:nvSpPr>
        <p:spPr>
          <a:xfrm>
            <a:off x="10566720" y="4457880"/>
            <a:ext cx="6387480" cy="1067040"/>
          </a:xfrm>
          <a:prstGeom prst="roundRect">
            <a:avLst>
              <a:gd name="adj" fmla="val 2677"/>
            </a:avLst>
          </a:prstGeom>
          <a:solidFill>
            <a:srgbClr val="fcfbf4"/>
          </a:solidFill>
          <a:ln w="9360">
            <a:solidFill>
              <a:srgbClr val="e3df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CustomShape 54"/>
          <p:cNvSpPr/>
          <p:nvPr/>
        </p:nvSpPr>
        <p:spPr>
          <a:xfrm>
            <a:off x="10823760" y="4676760"/>
            <a:ext cx="988560" cy="31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79" spc="-1" strike="noStrike">
                <a:solidFill>
                  <a:srgbClr val="4c5d0d"/>
                </a:solidFill>
                <a:latin typeface="Arial"/>
                <a:ea typeface="Arial"/>
              </a:rPr>
              <a:t>Counter</a:t>
            </a:r>
            <a:endParaRPr b="0" lang="fr-FR" sz="1879" spc="-1" strike="noStrike">
              <a:latin typeface="Arial"/>
            </a:endParaRPr>
          </a:p>
        </p:txBody>
      </p:sp>
      <p:sp>
        <p:nvSpPr>
          <p:cNvPr id="156" name="CustomShape 55"/>
          <p:cNvSpPr/>
          <p:nvPr/>
        </p:nvSpPr>
        <p:spPr>
          <a:xfrm>
            <a:off x="11869920" y="4695840"/>
            <a:ext cx="147348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16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fr-FR" sz="1800" spc="-1" strike="noStrike">
                <a:solidFill>
                  <a:srgbClr val="8a7f4e"/>
                </a:solidFill>
                <a:latin typeface="Georgia"/>
                <a:ea typeface="Georgia"/>
              </a:rPr>
              <a:t>« Combien ? »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57" name="CustomShape 56"/>
          <p:cNvSpPr/>
          <p:nvPr/>
        </p:nvSpPr>
        <p:spPr>
          <a:xfrm>
            <a:off x="10823760" y="5010120"/>
            <a:ext cx="6460560" cy="33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7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62674a"/>
                </a:solidFill>
                <a:latin typeface="Arial"/>
                <a:ea typeface="Arial"/>
              </a:rPr>
              <a:t>Aucune mémoire entre événements.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158" name="CustomShape 57"/>
          <p:cNvSpPr/>
          <p:nvPr/>
        </p:nvSpPr>
        <p:spPr>
          <a:xfrm>
            <a:off x="10566720" y="5696280"/>
            <a:ext cx="6387480" cy="1362600"/>
          </a:xfrm>
          <a:prstGeom prst="roundRect">
            <a:avLst>
              <a:gd name="adj" fmla="val 2097"/>
            </a:avLst>
          </a:prstGeom>
          <a:solidFill>
            <a:srgbClr val="4c5d0d"/>
          </a:solidFill>
          <a:ln w="9360">
            <a:solidFill>
              <a:srgbClr val="8a9c1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CustomShape 58"/>
          <p:cNvSpPr/>
          <p:nvPr/>
        </p:nvSpPr>
        <p:spPr>
          <a:xfrm>
            <a:off x="10823760" y="5915520"/>
            <a:ext cx="565560" cy="31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79" spc="-1" strike="noStrike">
                <a:solidFill>
                  <a:srgbClr val="ffffff"/>
                </a:solidFill>
                <a:latin typeface="Arial"/>
                <a:ea typeface="Arial"/>
              </a:rPr>
              <a:t>CEP</a:t>
            </a:r>
            <a:endParaRPr b="0" lang="fr-FR" sz="1879" spc="-1" strike="noStrike">
              <a:latin typeface="Arial"/>
            </a:endParaRPr>
          </a:p>
        </p:txBody>
      </p:sp>
      <p:sp>
        <p:nvSpPr>
          <p:cNvPr id="160" name="CustomShape 59"/>
          <p:cNvSpPr/>
          <p:nvPr/>
        </p:nvSpPr>
        <p:spPr>
          <a:xfrm>
            <a:off x="11446920" y="5934600"/>
            <a:ext cx="219528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30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fr-FR" sz="1800" spc="-1" strike="noStrike">
                <a:solidFill>
                  <a:srgbClr val="c3d45b"/>
                </a:solidFill>
                <a:latin typeface="Georgia"/>
                <a:ea typeface="Georgia"/>
              </a:rPr>
              <a:t>« Dans quel ordre ? »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61" name="CustomShape 60"/>
          <p:cNvSpPr/>
          <p:nvPr/>
        </p:nvSpPr>
        <p:spPr>
          <a:xfrm>
            <a:off x="10823760" y="6248880"/>
            <a:ext cx="6049440" cy="62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e4e7ce"/>
                </a:solidFill>
                <a:latin typeface="Arial"/>
                <a:ea typeface="Arial"/>
              </a:rPr>
              <a:t>État gardé en mémoire (automate) → </a:t>
            </a:r>
            <a:r>
              <a:rPr b="0" i="1" lang="fr-FR" sz="1729" spc="-1" strike="noStrike">
                <a:solidFill>
                  <a:srgbClr val="e4e7ce"/>
                </a:solidFill>
                <a:latin typeface="Arial"/>
                <a:ea typeface="Arial"/>
              </a:rPr>
              <a:t>edit puis revert</a:t>
            </a:r>
            <a:r>
              <a:rPr b="0" lang="fr-FR" sz="1729" spc="-1" strike="noStrike">
                <a:solidFill>
                  <a:srgbClr val="e4e7ce"/>
                </a:solidFill>
                <a:latin typeface="Arial"/>
                <a:ea typeface="Arial"/>
              </a:rPr>
              <a:t>, </a:t>
            </a:r>
            <a:r>
              <a:rPr b="0" i="1" lang="fr-FR" sz="1729" spc="-1" strike="noStrike">
                <a:solidFill>
                  <a:srgbClr val="e4e7ce"/>
                </a:solidFill>
                <a:latin typeface="Arial"/>
                <a:ea typeface="Arial"/>
              </a:rPr>
              <a:t>edit sans submit </a:t>
            </a:r>
            <a:r>
              <a:rPr b="0" lang="fr-FR" sz="1729" spc="-1" strike="noStrike">
                <a:solidFill>
                  <a:srgbClr val="e4e7ce"/>
                </a:solidFill>
                <a:latin typeface="Arial"/>
                <a:ea typeface="Arial"/>
              </a:rPr>
              <a:t>.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162" name="CustomShape 61"/>
          <p:cNvSpPr/>
          <p:nvPr/>
        </p:nvSpPr>
        <p:spPr>
          <a:xfrm>
            <a:off x="14074200" y="9629640"/>
            <a:ext cx="316800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134" strike="noStrike">
                <a:solidFill>
                  <a:srgbClr val="9c9676"/>
                </a:solidFill>
                <a:latin typeface="Courier New"/>
                <a:ea typeface="Courier New"/>
              </a:rPr>
              <a:t>UQAC · Juin 2026 — 3 / 6</a:t>
            </a:r>
            <a:endParaRPr b="0" lang="fr-FR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4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Image 0" descr="preencoded.png"/>
          <p:cNvPicPr/>
          <p:nvPr/>
        </p:nvPicPr>
        <p:blipFill>
          <a:blip r:embed="rId1">
            <a:alphaModFix amt="96000"/>
          </a:blip>
          <a:stretch/>
        </p:blipFill>
        <p:spPr>
          <a:xfrm>
            <a:off x="15525720" y="762120"/>
            <a:ext cx="1428480" cy="856800"/>
          </a:xfrm>
          <a:prstGeom prst="rect">
            <a:avLst/>
          </a:prstGeom>
          <a:ln>
            <a:noFill/>
          </a:ln>
        </p:spPr>
      </p:pic>
      <p:sp>
        <p:nvSpPr>
          <p:cNvPr id="164" name="CustomShape 1"/>
          <p:cNvSpPr/>
          <p:nvPr/>
        </p:nvSpPr>
        <p:spPr>
          <a:xfrm>
            <a:off x="1333440" y="1200240"/>
            <a:ext cx="48744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540" strike="noStrike">
                <a:solidFill>
                  <a:srgbClr val="b7c94b"/>
                </a:solidFill>
                <a:latin typeface="Courier New"/>
                <a:ea typeface="Courier New"/>
              </a:rPr>
              <a:t>03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2011680" y="914400"/>
            <a:ext cx="7890840" cy="60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26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4500" spc="-46" strike="noStrike">
                <a:solidFill>
                  <a:srgbClr val="ffffff"/>
                </a:solidFill>
                <a:latin typeface="Georgia"/>
                <a:ea typeface="Georgia"/>
              </a:rPr>
              <a:t>Résultats &amp; prochaines étapes</a:t>
            </a:r>
            <a:endParaRPr b="0" lang="fr-FR" sz="4500" spc="-1" strike="noStrike"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1333440" y="1828800"/>
            <a:ext cx="15620760" cy="1872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ustomShape 4"/>
          <p:cNvSpPr/>
          <p:nvPr/>
        </p:nvSpPr>
        <p:spPr>
          <a:xfrm>
            <a:off x="1333440" y="2133720"/>
            <a:ext cx="17182800" cy="31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650" spc="262" strike="noStrike">
                <a:solidFill>
                  <a:srgbClr val="aeb489"/>
                </a:solidFill>
                <a:latin typeface="Courier New"/>
                <a:ea typeface="Courier New"/>
              </a:rPr>
              <a:t>LOG RÉEL — JUIN 2026 · TRAITÉ EN ~14 S POUR 1,7 GO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168" name="CustomShape 5"/>
          <p:cNvSpPr/>
          <p:nvPr/>
        </p:nvSpPr>
        <p:spPr>
          <a:xfrm>
            <a:off x="1333440" y="2695680"/>
            <a:ext cx="3747600" cy="1927440"/>
          </a:xfrm>
          <a:prstGeom prst="roundRect">
            <a:avLst>
              <a:gd name="adj" fmla="val 2471"/>
            </a:avLst>
          </a:prstGeom>
          <a:solidFill>
            <a:srgbClr val="ffffff">
              <a:alpha val="5000"/>
            </a:srgbClr>
          </a:solidFill>
          <a:ln w="9360">
            <a:solidFill>
              <a:srgbClr val="ffffff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6"/>
          <p:cNvSpPr/>
          <p:nvPr/>
        </p:nvSpPr>
        <p:spPr>
          <a:xfrm>
            <a:off x="1628640" y="2990880"/>
            <a:ext cx="3472920" cy="66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4950" spc="-1" strike="noStrike">
                <a:solidFill>
                  <a:srgbClr val="ffffff"/>
                </a:solidFill>
                <a:latin typeface="Georgia"/>
                <a:ea typeface="Georgia"/>
              </a:rPr>
              <a:t>16 262</a:t>
            </a:r>
            <a:endParaRPr b="0" lang="fr-FR" sz="4950" spc="-1" strike="noStrike">
              <a:latin typeface="Arial"/>
            </a:endParaRPr>
          </a:p>
        </p:txBody>
      </p:sp>
      <p:sp>
        <p:nvSpPr>
          <p:cNvPr id="170" name="CustomShape 7"/>
          <p:cNvSpPr/>
          <p:nvPr/>
        </p:nvSpPr>
        <p:spPr>
          <a:xfrm>
            <a:off x="1628640" y="3733920"/>
            <a:ext cx="3251880" cy="63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bcc198"/>
                </a:solidFill>
                <a:latin typeface="Arial"/>
                <a:ea typeface="Arial"/>
              </a:rPr>
              <a:t>événements uniques (17 187 extraits)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71" name="CustomShape 8"/>
          <p:cNvSpPr/>
          <p:nvPr/>
        </p:nvSpPr>
        <p:spPr>
          <a:xfrm>
            <a:off x="5291280" y="2695680"/>
            <a:ext cx="3747600" cy="1927440"/>
          </a:xfrm>
          <a:prstGeom prst="roundRect">
            <a:avLst>
              <a:gd name="adj" fmla="val 2471"/>
            </a:avLst>
          </a:prstGeom>
          <a:solidFill>
            <a:srgbClr val="ffffff">
              <a:alpha val="5000"/>
            </a:srgbClr>
          </a:solidFill>
          <a:ln w="9360">
            <a:solidFill>
              <a:srgbClr val="ffffff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CustomShape 9"/>
          <p:cNvSpPr/>
          <p:nvPr/>
        </p:nvSpPr>
        <p:spPr>
          <a:xfrm>
            <a:off x="5586480" y="2990880"/>
            <a:ext cx="3472920" cy="66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4950" spc="-1" strike="noStrike">
                <a:solidFill>
                  <a:srgbClr val="c3d45b"/>
                </a:solidFill>
                <a:latin typeface="Georgia"/>
                <a:ea typeface="Georgia"/>
              </a:rPr>
              <a:t>217</a:t>
            </a:r>
            <a:endParaRPr b="0" lang="fr-FR" sz="4950" spc="-1" strike="noStrike">
              <a:latin typeface="Arial"/>
            </a:endParaRPr>
          </a:p>
        </p:txBody>
      </p:sp>
      <p:sp>
        <p:nvSpPr>
          <p:cNvPr id="173" name="CustomShape 10"/>
          <p:cNvSpPr/>
          <p:nvPr/>
        </p:nvSpPr>
        <p:spPr>
          <a:xfrm>
            <a:off x="5586480" y="3733920"/>
            <a:ext cx="3251880" cy="63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bcc198"/>
                </a:solidFill>
                <a:latin typeface="Arial"/>
                <a:ea typeface="Arial"/>
              </a:rPr>
              <a:t>séquences edit → revert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74" name="CustomShape 11"/>
          <p:cNvSpPr/>
          <p:nvPr/>
        </p:nvSpPr>
        <p:spPr>
          <a:xfrm>
            <a:off x="9248760" y="2695680"/>
            <a:ext cx="3747600" cy="1927440"/>
          </a:xfrm>
          <a:prstGeom prst="roundRect">
            <a:avLst>
              <a:gd name="adj" fmla="val 2471"/>
            </a:avLst>
          </a:prstGeom>
          <a:solidFill>
            <a:srgbClr val="ffffff">
              <a:alpha val="5000"/>
            </a:srgbClr>
          </a:solidFill>
          <a:ln w="9360">
            <a:solidFill>
              <a:srgbClr val="ffffff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12"/>
          <p:cNvSpPr/>
          <p:nvPr/>
        </p:nvSpPr>
        <p:spPr>
          <a:xfrm>
            <a:off x="9543960" y="2990880"/>
            <a:ext cx="3472920" cy="66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4950" spc="-1" strike="noStrike">
                <a:solidFill>
                  <a:srgbClr val="c3d45b"/>
                </a:solidFill>
                <a:latin typeface="Georgia"/>
                <a:ea typeface="Georgia"/>
              </a:rPr>
              <a:t>250</a:t>
            </a:r>
            <a:endParaRPr b="0" lang="fr-FR" sz="4950" spc="-1" strike="noStrike">
              <a:latin typeface="Arial"/>
            </a:endParaRPr>
          </a:p>
        </p:txBody>
      </p:sp>
      <p:sp>
        <p:nvSpPr>
          <p:cNvPr id="176" name="CustomShape 13"/>
          <p:cNvSpPr/>
          <p:nvPr/>
        </p:nvSpPr>
        <p:spPr>
          <a:xfrm>
            <a:off x="9543960" y="3733920"/>
            <a:ext cx="3251880" cy="63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bcc198"/>
                </a:solidFill>
                <a:latin typeface="Arial"/>
                <a:ea typeface="Arial"/>
              </a:rPr>
              <a:t>fichiers en apathy (edit sans submit)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77" name="CustomShape 14"/>
          <p:cNvSpPr/>
          <p:nvPr/>
        </p:nvSpPr>
        <p:spPr>
          <a:xfrm>
            <a:off x="13206240" y="2695680"/>
            <a:ext cx="3747600" cy="1927440"/>
          </a:xfrm>
          <a:prstGeom prst="roundRect">
            <a:avLst>
              <a:gd name="adj" fmla="val 2471"/>
            </a:avLst>
          </a:prstGeom>
          <a:solidFill>
            <a:srgbClr val="ffffff">
              <a:alpha val="5000"/>
            </a:srgbClr>
          </a:solidFill>
          <a:ln w="9360">
            <a:solidFill>
              <a:srgbClr val="ffffff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15"/>
          <p:cNvSpPr/>
          <p:nvPr/>
        </p:nvSpPr>
        <p:spPr>
          <a:xfrm>
            <a:off x="13501800" y="2990880"/>
            <a:ext cx="3472920" cy="66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4950" spc="-1" strike="noStrike">
                <a:solidFill>
                  <a:srgbClr val="c3d45b"/>
                </a:solidFill>
                <a:latin typeface="Georgia"/>
                <a:ea typeface="Georgia"/>
              </a:rPr>
              <a:t>60</a:t>
            </a:r>
            <a:endParaRPr b="0" lang="fr-FR" sz="4950" spc="-1" strike="noStrike">
              <a:latin typeface="Arial"/>
            </a:endParaRPr>
          </a:p>
        </p:txBody>
      </p:sp>
      <p:sp>
        <p:nvSpPr>
          <p:cNvPr id="179" name="CustomShape 16"/>
          <p:cNvSpPr/>
          <p:nvPr/>
        </p:nvSpPr>
        <p:spPr>
          <a:xfrm>
            <a:off x="13501800" y="3733920"/>
            <a:ext cx="3251880" cy="63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bcc198"/>
                </a:solidFill>
                <a:latin typeface="Arial"/>
                <a:ea typeface="Arial"/>
              </a:rPr>
              <a:t>users distincts en 1 h (rush, 27/04 13h)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80" name="CustomShape 17"/>
          <p:cNvSpPr/>
          <p:nvPr/>
        </p:nvSpPr>
        <p:spPr>
          <a:xfrm>
            <a:off x="1333440" y="4947120"/>
            <a:ext cx="37800" cy="1275840"/>
          </a:xfrm>
          <a:prstGeom prst="rect">
            <a:avLst/>
          </a:prstGeom>
          <a:solidFill>
            <a:srgbClr val="b7c94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CustomShape 18"/>
          <p:cNvSpPr/>
          <p:nvPr/>
        </p:nvSpPr>
        <p:spPr>
          <a:xfrm>
            <a:off x="1657440" y="4985280"/>
            <a:ext cx="1598832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580" spc="250" strike="noStrike">
                <a:solidFill>
                  <a:srgbClr val="b7c94b"/>
                </a:solidFill>
                <a:latin typeface="Courier New"/>
                <a:ea typeface="Courier New"/>
              </a:rPr>
              <a:t>COHÉRENCE VALIDÉE — LES DEUX PHASES SE RECOUPENT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182" name="CustomShape 19"/>
          <p:cNvSpPr/>
          <p:nvPr/>
        </p:nvSpPr>
        <p:spPr>
          <a:xfrm>
            <a:off x="1657440" y="5337720"/>
            <a:ext cx="14970960" cy="88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>
              <a:lnSpc>
                <a:spcPct val="145000"/>
              </a:lnSpc>
              <a:tabLst>
                <a:tab algn="l" pos="0"/>
              </a:tabLst>
            </a:pPr>
            <a:r>
              <a:rPr b="0" lang="fr-FR" sz="2250" spc="-1" strike="noStrike">
                <a:solidFill>
                  <a:srgbClr val="edefe0"/>
                </a:solidFill>
                <a:latin typeface="Arial"/>
                <a:ea typeface="Arial"/>
              </a:rPr>
              <a:t>La </a:t>
            </a:r>
            <a:r>
              <a:rPr b="1" lang="fr-FR" sz="2250" spc="-1" strike="noStrike">
                <a:solidFill>
                  <a:srgbClr val="ffffff"/>
                </a:solidFill>
                <a:latin typeface="Arial"/>
                <a:ea typeface="Arial"/>
              </a:rPr>
              <a:t>gauge </a:t>
            </a:r>
            <a:r>
              <a:rPr b="0" lang="fr-FR" sz="2250" spc="-1" strike="noStrike">
                <a:solidFill>
                  <a:srgbClr val="edefe0"/>
                </a:solidFill>
                <a:latin typeface="Arial"/>
                <a:ea typeface="Arial"/>
              </a:rPr>
              <a:t>de fin de traitement — </a:t>
            </a:r>
            <a:r>
              <a:rPr b="1" lang="fr-FR" sz="2250" spc="-1" strike="noStrike">
                <a:solidFill>
                  <a:srgbClr val="ffffff"/>
                </a:solidFill>
                <a:latin typeface="Arial"/>
                <a:ea typeface="Arial"/>
              </a:rPr>
              <a:t>250 checkouts encore ouverts </a:t>
            </a:r>
            <a:r>
              <a:rPr b="0" lang="fr-FR" sz="2250" spc="-1" strike="noStrike">
                <a:solidFill>
                  <a:srgbClr val="edefe0"/>
                </a:solidFill>
                <a:latin typeface="Arial"/>
                <a:ea typeface="Arial"/>
              </a:rPr>
              <a:t>— correspond </a:t>
            </a:r>
            <a:r>
              <a:rPr b="1" lang="fr-FR" sz="2250" spc="-1" strike="noStrike">
                <a:solidFill>
                  <a:srgbClr val="ffffff"/>
                </a:solidFill>
                <a:latin typeface="Arial"/>
                <a:ea typeface="Arial"/>
              </a:rPr>
              <a:t>exactement </a:t>
            </a:r>
            <a:r>
              <a:rPr b="0" lang="fr-FR" sz="2250" spc="-1" strike="noStrike">
                <a:solidFill>
                  <a:srgbClr val="edefe0"/>
                </a:solidFill>
                <a:latin typeface="Arial"/>
                <a:ea typeface="Arial"/>
              </a:rPr>
              <a:t>aux </a:t>
            </a:r>
            <a:r>
              <a:rPr b="1" lang="fr-FR" sz="2250" spc="-1" strike="noStrike">
                <a:solidFill>
                  <a:srgbClr val="ffffff"/>
                </a:solidFill>
                <a:latin typeface="Arial"/>
                <a:ea typeface="Arial"/>
              </a:rPr>
              <a:t>250 fichiers </a:t>
            </a:r>
            <a:r>
              <a:rPr b="0" lang="fr-FR" sz="2250" spc="-1" strike="noStrike">
                <a:solidFill>
                  <a:srgbClr val="edefe0"/>
                </a:solidFill>
                <a:latin typeface="Arial"/>
                <a:ea typeface="Arial"/>
              </a:rPr>
              <a:t>en </a:t>
            </a:r>
            <a:r>
              <a:rPr b="0" i="1" lang="fr-FR" sz="2250" spc="-1" strike="noStrike">
                <a:solidFill>
                  <a:srgbClr val="edefe0"/>
                </a:solidFill>
                <a:latin typeface="Arial"/>
                <a:ea typeface="Arial"/>
              </a:rPr>
              <a:t>Bystander Apathy </a:t>
            </a:r>
            <a:r>
              <a:rPr b="0" lang="fr-FR" sz="2250" spc="-1" strike="noStrike">
                <a:solidFill>
                  <a:srgbClr val="edefe0"/>
                </a:solidFill>
                <a:latin typeface="Arial"/>
                <a:ea typeface="Arial"/>
              </a:rPr>
              <a:t>détectés indépendamment par le moteur CEP.</a:t>
            </a:r>
            <a:endParaRPr b="0" lang="fr-FR" sz="2250" spc="-1" strike="noStrike">
              <a:latin typeface="Arial"/>
            </a:endParaRPr>
          </a:p>
        </p:txBody>
      </p:sp>
      <p:sp>
        <p:nvSpPr>
          <p:cNvPr id="183" name="CustomShape 20"/>
          <p:cNvSpPr/>
          <p:nvPr/>
        </p:nvSpPr>
        <p:spPr>
          <a:xfrm>
            <a:off x="1333440" y="8358120"/>
            <a:ext cx="17182800" cy="27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650" spc="327" strike="noStrike">
                <a:solidFill>
                  <a:srgbClr val="b7c94b"/>
                </a:solidFill>
                <a:latin typeface="Courier New"/>
                <a:ea typeface="Courier New"/>
              </a:rPr>
              <a:t>PROCHAINES ÉTAPES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184" name="CustomShape 21"/>
          <p:cNvSpPr/>
          <p:nvPr/>
        </p:nvSpPr>
        <p:spPr>
          <a:xfrm>
            <a:off x="1333440" y="8805960"/>
            <a:ext cx="323640" cy="33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7000"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fr-FR" sz="1950" spc="-1" strike="noStrike">
                <a:solidFill>
                  <a:srgbClr val="b7c94b"/>
                </a:solidFill>
                <a:latin typeface="Arial"/>
                <a:ea typeface="Arial"/>
              </a:rPr>
              <a:t>—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185" name="CustomShape 22"/>
          <p:cNvSpPr/>
          <p:nvPr/>
        </p:nvSpPr>
        <p:spPr>
          <a:xfrm>
            <a:off x="1714680" y="8805960"/>
            <a:ext cx="3438360" cy="68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879" spc="-1" strike="noStrike">
                <a:solidFill>
                  <a:srgbClr val="edefe0"/>
                </a:solidFill>
                <a:latin typeface="Arial"/>
                <a:ea typeface="Arial"/>
              </a:rPr>
              <a:t>Valider un échantillon d'alertes (vrais / faux positifs)</a:t>
            </a:r>
            <a:endParaRPr b="0" lang="fr-FR" sz="1879" spc="-1" strike="noStrike">
              <a:latin typeface="Arial"/>
            </a:endParaRPr>
          </a:p>
        </p:txBody>
      </p:sp>
      <p:sp>
        <p:nvSpPr>
          <p:cNvPr id="186" name="CustomShape 23"/>
          <p:cNvSpPr/>
          <p:nvPr/>
        </p:nvSpPr>
        <p:spPr>
          <a:xfrm>
            <a:off x="5300640" y="8805960"/>
            <a:ext cx="323640" cy="33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7000"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fr-FR" sz="1950" spc="-1" strike="noStrike">
                <a:solidFill>
                  <a:srgbClr val="b7c94b"/>
                </a:solidFill>
                <a:latin typeface="Arial"/>
                <a:ea typeface="Arial"/>
              </a:rPr>
              <a:t>—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187" name="CustomShape 24"/>
          <p:cNvSpPr/>
          <p:nvPr/>
        </p:nvSpPr>
        <p:spPr>
          <a:xfrm>
            <a:off x="5681520" y="8805960"/>
            <a:ext cx="3438360" cy="68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879" spc="-1" strike="noStrike">
                <a:solidFill>
                  <a:srgbClr val="edefe0"/>
                </a:solidFill>
                <a:latin typeface="Arial"/>
                <a:ea typeface="Arial"/>
              </a:rPr>
              <a:t>Produire les figures pour le tool paper</a:t>
            </a:r>
            <a:endParaRPr b="0" lang="fr-FR" sz="1879" spc="-1" strike="noStrike">
              <a:latin typeface="Arial"/>
            </a:endParaRPr>
          </a:p>
        </p:txBody>
      </p:sp>
      <p:sp>
        <p:nvSpPr>
          <p:cNvPr id="188" name="CustomShape 25"/>
          <p:cNvSpPr/>
          <p:nvPr/>
        </p:nvSpPr>
        <p:spPr>
          <a:xfrm>
            <a:off x="9267840" y="8805960"/>
            <a:ext cx="323640" cy="33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7000"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fr-FR" sz="1950" spc="-1" strike="noStrike">
                <a:solidFill>
                  <a:srgbClr val="b7c94b"/>
                </a:solidFill>
                <a:latin typeface="Arial"/>
                <a:ea typeface="Arial"/>
              </a:rPr>
              <a:t>—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189" name="CustomShape 26"/>
          <p:cNvSpPr/>
          <p:nvPr/>
        </p:nvSpPr>
        <p:spPr>
          <a:xfrm>
            <a:off x="9648720" y="8805960"/>
            <a:ext cx="3438360" cy="68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879" spc="-1" strike="noStrike">
                <a:solidFill>
                  <a:srgbClr val="edefe0"/>
                </a:solidFill>
                <a:latin typeface="Arial"/>
                <a:ea typeface="Arial"/>
              </a:rPr>
              <a:t>Anonymiser les usernames pour diffusion</a:t>
            </a:r>
            <a:endParaRPr b="0" lang="fr-FR" sz="1879" spc="-1" strike="noStrike">
              <a:latin typeface="Arial"/>
            </a:endParaRPr>
          </a:p>
        </p:txBody>
      </p:sp>
      <p:sp>
        <p:nvSpPr>
          <p:cNvPr id="190" name="CustomShape 27"/>
          <p:cNvSpPr/>
          <p:nvPr/>
        </p:nvSpPr>
        <p:spPr>
          <a:xfrm>
            <a:off x="13235040" y="8805960"/>
            <a:ext cx="323640" cy="33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7000"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fr-FR" sz="1950" spc="-1" strike="noStrike">
                <a:solidFill>
                  <a:srgbClr val="b7c94b"/>
                </a:solidFill>
                <a:latin typeface="Arial"/>
                <a:ea typeface="Arial"/>
              </a:rPr>
              <a:t>—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191" name="CustomShape 28"/>
          <p:cNvSpPr/>
          <p:nvPr/>
        </p:nvSpPr>
        <p:spPr>
          <a:xfrm>
            <a:off x="13615920" y="8805960"/>
            <a:ext cx="3438360" cy="68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0000"/>
          </a:bodyPr>
          <a:p>
            <a:pPr>
              <a:lnSpc>
                <a:spcPct val="135000"/>
              </a:lnSpc>
              <a:tabLst>
                <a:tab algn="l" pos="0"/>
              </a:tabLst>
            </a:pPr>
            <a:r>
              <a:rPr b="0" lang="fr-FR" sz="1879" spc="-1" strike="noStrike">
                <a:solidFill>
                  <a:srgbClr val="edefe0"/>
                </a:solidFill>
                <a:latin typeface="Arial"/>
                <a:ea typeface="Arial"/>
              </a:rPr>
              <a:t>Rédiger le tool paper / intégrer au mémoire</a:t>
            </a:r>
            <a:endParaRPr b="0" lang="fr-FR" sz="1879" spc="-1" strike="noStrike">
              <a:latin typeface="Arial"/>
            </a:endParaRPr>
          </a:p>
        </p:txBody>
      </p:sp>
      <p:sp>
        <p:nvSpPr>
          <p:cNvPr id="192" name="CustomShape 29"/>
          <p:cNvSpPr/>
          <p:nvPr/>
        </p:nvSpPr>
        <p:spPr>
          <a:xfrm>
            <a:off x="14074200" y="9629640"/>
            <a:ext cx="316800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134" strike="noStrike">
                <a:solidFill>
                  <a:srgbClr val="8e946b"/>
                </a:solidFill>
                <a:latin typeface="Courier New"/>
                <a:ea typeface="Courier New"/>
              </a:rPr>
              <a:t>UQAC · Juin 2026 — 4 / 6</a:t>
            </a:r>
            <a:endParaRPr b="0" lang="fr-FR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Image 0" descr="preencoded.png"/>
          <p:cNvPicPr/>
          <p:nvPr/>
        </p:nvPicPr>
        <p:blipFill>
          <a:blip r:embed="rId1"/>
          <a:stretch/>
        </p:blipFill>
        <p:spPr>
          <a:xfrm>
            <a:off x="15525720" y="762120"/>
            <a:ext cx="1428480" cy="856800"/>
          </a:xfrm>
          <a:prstGeom prst="rect">
            <a:avLst/>
          </a:prstGeom>
          <a:ln>
            <a:noFill/>
          </a:ln>
        </p:spPr>
      </p:pic>
      <p:sp>
        <p:nvSpPr>
          <p:cNvPr id="194" name="CustomShape 1"/>
          <p:cNvSpPr/>
          <p:nvPr/>
        </p:nvSpPr>
        <p:spPr>
          <a:xfrm>
            <a:off x="1333440" y="1200240"/>
            <a:ext cx="48744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540" strike="noStrike">
                <a:solidFill>
                  <a:srgbClr val="8a9c1f"/>
                </a:solidFill>
                <a:latin typeface="Courier New"/>
                <a:ea typeface="Courier New"/>
              </a:rPr>
              <a:t>04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2011680" y="914400"/>
            <a:ext cx="5440320" cy="60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26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4500" spc="-46" strike="noStrike">
                <a:solidFill>
                  <a:srgbClr val="4c5d0d"/>
                </a:solidFill>
                <a:latin typeface="Georgia"/>
                <a:ea typeface="Georgia"/>
              </a:rPr>
              <a:t>Analyse approfondie</a:t>
            </a:r>
            <a:endParaRPr b="0" lang="fr-FR" sz="4500" spc="-1" strike="noStrike">
              <a:latin typeface="Arial"/>
            </a:endParaRPr>
          </a:p>
        </p:txBody>
      </p:sp>
      <p:sp>
        <p:nvSpPr>
          <p:cNvPr id="196" name="CustomShape 3"/>
          <p:cNvSpPr/>
          <p:nvPr/>
        </p:nvSpPr>
        <p:spPr>
          <a:xfrm>
            <a:off x="1333440" y="2171880"/>
            <a:ext cx="7779600" cy="51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650" spc="262" strike="noStrike">
                <a:solidFill>
                  <a:srgbClr val="8a7f4e"/>
                </a:solidFill>
                <a:latin typeface="Courier New"/>
                <a:ea typeface="Courier New"/>
              </a:rPr>
              <a:t>PROCRASTINATION — SUBMITS / HEURE · </a:t>
            </a:r>
            <a:r>
              <a:rPr b="1" lang="fr-FR" sz="1650" spc="262" strike="noStrike">
                <a:solidFill>
                  <a:srgbClr val="4c5d0d"/>
                </a:solidFill>
                <a:latin typeface="Courier New"/>
                <a:ea typeface="Courier New"/>
              </a:rPr>
              <a:t>PIC 107 (REMISE)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197" name="CustomShape 4"/>
          <p:cNvSpPr/>
          <p:nvPr/>
        </p:nvSpPr>
        <p:spPr>
          <a:xfrm>
            <a:off x="1333440" y="4419720"/>
            <a:ext cx="7552800" cy="18720"/>
          </a:xfrm>
          <a:prstGeom prst="rect">
            <a:avLst/>
          </a:prstGeom>
          <a:solidFill>
            <a:srgbClr val="c9c4b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CustomShape 5"/>
          <p:cNvSpPr/>
          <p:nvPr/>
        </p:nvSpPr>
        <p:spPr>
          <a:xfrm>
            <a:off x="1333440" y="4248000"/>
            <a:ext cx="274320" cy="171000"/>
          </a:xfrm>
          <a:prstGeom prst="roundRect">
            <a:avLst>
              <a:gd name="adj" fmla="val 11111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CustomShape 6"/>
          <p:cNvSpPr/>
          <p:nvPr/>
        </p:nvSpPr>
        <p:spPr>
          <a:xfrm>
            <a:off x="1636920" y="3505320"/>
            <a:ext cx="274320" cy="914040"/>
          </a:xfrm>
          <a:prstGeom prst="roundRect">
            <a:avLst>
              <a:gd name="adj" fmla="val 6934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CustomShape 7"/>
          <p:cNvSpPr/>
          <p:nvPr/>
        </p:nvSpPr>
        <p:spPr>
          <a:xfrm>
            <a:off x="1940040" y="3733920"/>
            <a:ext cx="274320" cy="685440"/>
          </a:xfrm>
          <a:prstGeom prst="roundRect">
            <a:avLst>
              <a:gd name="adj" fmla="val 6934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CustomShape 8"/>
          <p:cNvSpPr/>
          <p:nvPr/>
        </p:nvSpPr>
        <p:spPr>
          <a:xfrm>
            <a:off x="2243520" y="4076640"/>
            <a:ext cx="274320" cy="342720"/>
          </a:xfrm>
          <a:prstGeom prst="roundRect">
            <a:avLst>
              <a:gd name="adj" fmla="val 6934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CustomShape 9"/>
          <p:cNvSpPr/>
          <p:nvPr/>
        </p:nvSpPr>
        <p:spPr>
          <a:xfrm>
            <a:off x="2546640" y="4095720"/>
            <a:ext cx="274320" cy="323640"/>
          </a:xfrm>
          <a:prstGeom prst="roundRect">
            <a:avLst>
              <a:gd name="adj" fmla="val 6934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CustomShape 10"/>
          <p:cNvSpPr/>
          <p:nvPr/>
        </p:nvSpPr>
        <p:spPr>
          <a:xfrm>
            <a:off x="2850120" y="4210200"/>
            <a:ext cx="274320" cy="209160"/>
          </a:xfrm>
          <a:prstGeom prst="roundRect">
            <a:avLst>
              <a:gd name="adj" fmla="val 9091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CustomShape 11"/>
          <p:cNvSpPr/>
          <p:nvPr/>
        </p:nvSpPr>
        <p:spPr>
          <a:xfrm>
            <a:off x="3153240" y="4305240"/>
            <a:ext cx="274320" cy="114120"/>
          </a:xfrm>
          <a:prstGeom prst="roundRect">
            <a:avLst>
              <a:gd name="adj" fmla="val 16667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CustomShape 12"/>
          <p:cNvSpPr/>
          <p:nvPr/>
        </p:nvSpPr>
        <p:spPr>
          <a:xfrm>
            <a:off x="3456720" y="4305240"/>
            <a:ext cx="274320" cy="114120"/>
          </a:xfrm>
          <a:prstGeom prst="roundRect">
            <a:avLst>
              <a:gd name="adj" fmla="val 16667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CustomShape 13"/>
          <p:cNvSpPr/>
          <p:nvPr/>
        </p:nvSpPr>
        <p:spPr>
          <a:xfrm>
            <a:off x="3759840" y="4371840"/>
            <a:ext cx="274320" cy="47160"/>
          </a:xfrm>
          <a:prstGeom prst="roundRect">
            <a:avLst>
              <a:gd name="adj" fmla="val 40000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CustomShape 14"/>
          <p:cNvSpPr/>
          <p:nvPr/>
        </p:nvSpPr>
        <p:spPr>
          <a:xfrm>
            <a:off x="4063320" y="4352760"/>
            <a:ext cx="274320" cy="66240"/>
          </a:xfrm>
          <a:prstGeom prst="roundRect">
            <a:avLst>
              <a:gd name="adj" fmla="val 28571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CustomShape 15"/>
          <p:cNvSpPr/>
          <p:nvPr/>
        </p:nvSpPr>
        <p:spPr>
          <a:xfrm>
            <a:off x="4366440" y="4334040"/>
            <a:ext cx="274320" cy="85320"/>
          </a:xfrm>
          <a:prstGeom prst="roundRect">
            <a:avLst>
              <a:gd name="adj" fmla="val 22222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CustomShape 16"/>
          <p:cNvSpPr/>
          <p:nvPr/>
        </p:nvSpPr>
        <p:spPr>
          <a:xfrm>
            <a:off x="4669920" y="4067280"/>
            <a:ext cx="274320" cy="352080"/>
          </a:xfrm>
          <a:prstGeom prst="roundRect">
            <a:avLst>
              <a:gd name="adj" fmla="val 6934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CustomShape 17"/>
          <p:cNvSpPr/>
          <p:nvPr/>
        </p:nvSpPr>
        <p:spPr>
          <a:xfrm>
            <a:off x="4973400" y="3733920"/>
            <a:ext cx="274320" cy="685440"/>
          </a:xfrm>
          <a:prstGeom prst="roundRect">
            <a:avLst>
              <a:gd name="adj" fmla="val 6934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CustomShape 18"/>
          <p:cNvSpPr/>
          <p:nvPr/>
        </p:nvSpPr>
        <p:spPr>
          <a:xfrm>
            <a:off x="5276520" y="3191040"/>
            <a:ext cx="274320" cy="1228320"/>
          </a:xfrm>
          <a:prstGeom prst="roundRect">
            <a:avLst>
              <a:gd name="adj" fmla="val 6934"/>
            </a:avLst>
          </a:prstGeom>
          <a:solidFill>
            <a:srgbClr val="a6b45e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CustomShape 19"/>
          <p:cNvSpPr/>
          <p:nvPr/>
        </p:nvSpPr>
        <p:spPr>
          <a:xfrm>
            <a:off x="5580000" y="3524400"/>
            <a:ext cx="274320" cy="894960"/>
          </a:xfrm>
          <a:prstGeom prst="roundRect">
            <a:avLst>
              <a:gd name="adj" fmla="val 6934"/>
            </a:avLst>
          </a:prstGeom>
          <a:solidFill>
            <a:srgbClr val="a6b45e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CustomShape 20"/>
          <p:cNvSpPr/>
          <p:nvPr/>
        </p:nvSpPr>
        <p:spPr>
          <a:xfrm>
            <a:off x="5883120" y="3105000"/>
            <a:ext cx="274320" cy="1314000"/>
          </a:xfrm>
          <a:prstGeom prst="roundRect">
            <a:avLst>
              <a:gd name="adj" fmla="val 6934"/>
            </a:avLst>
          </a:prstGeom>
          <a:solidFill>
            <a:srgbClr val="a6b45e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CustomShape 21"/>
          <p:cNvSpPr/>
          <p:nvPr/>
        </p:nvSpPr>
        <p:spPr>
          <a:xfrm>
            <a:off x="6186600" y="3067200"/>
            <a:ext cx="274320" cy="1352160"/>
          </a:xfrm>
          <a:prstGeom prst="roundRect">
            <a:avLst>
              <a:gd name="adj" fmla="val 6934"/>
            </a:avLst>
          </a:prstGeom>
          <a:solidFill>
            <a:srgbClr val="a6b45e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CustomShape 22"/>
          <p:cNvSpPr/>
          <p:nvPr/>
        </p:nvSpPr>
        <p:spPr>
          <a:xfrm>
            <a:off x="6489720" y="2895480"/>
            <a:ext cx="274320" cy="1523520"/>
          </a:xfrm>
          <a:prstGeom prst="roundRect">
            <a:avLst>
              <a:gd name="adj" fmla="val 6934"/>
            </a:avLst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CustomShape 23"/>
          <p:cNvSpPr/>
          <p:nvPr/>
        </p:nvSpPr>
        <p:spPr>
          <a:xfrm>
            <a:off x="6447240" y="2610000"/>
            <a:ext cx="43596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4c5d0d"/>
                </a:solidFill>
                <a:latin typeface="Courier New"/>
                <a:ea typeface="Courier New"/>
              </a:rPr>
              <a:t>107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217" name="CustomShape 24"/>
          <p:cNvSpPr/>
          <p:nvPr/>
        </p:nvSpPr>
        <p:spPr>
          <a:xfrm>
            <a:off x="6793200" y="3267000"/>
            <a:ext cx="274320" cy="1152000"/>
          </a:xfrm>
          <a:prstGeom prst="roundRect">
            <a:avLst>
              <a:gd name="adj" fmla="val 6934"/>
            </a:avLst>
          </a:prstGeom>
          <a:solidFill>
            <a:srgbClr val="a6b45e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CustomShape 25"/>
          <p:cNvSpPr/>
          <p:nvPr/>
        </p:nvSpPr>
        <p:spPr>
          <a:xfrm>
            <a:off x="7096320" y="3048120"/>
            <a:ext cx="274320" cy="1371240"/>
          </a:xfrm>
          <a:prstGeom prst="roundRect">
            <a:avLst>
              <a:gd name="adj" fmla="val 6934"/>
            </a:avLst>
          </a:prstGeom>
          <a:solidFill>
            <a:srgbClr val="a6b45e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CustomShape 26"/>
          <p:cNvSpPr/>
          <p:nvPr/>
        </p:nvSpPr>
        <p:spPr>
          <a:xfrm>
            <a:off x="7399800" y="3352680"/>
            <a:ext cx="274320" cy="1066320"/>
          </a:xfrm>
          <a:prstGeom prst="roundRect">
            <a:avLst>
              <a:gd name="adj" fmla="val 6934"/>
            </a:avLst>
          </a:prstGeom>
          <a:solidFill>
            <a:srgbClr val="a6b45e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CustomShape 27"/>
          <p:cNvSpPr/>
          <p:nvPr/>
        </p:nvSpPr>
        <p:spPr>
          <a:xfrm>
            <a:off x="7702920" y="3352680"/>
            <a:ext cx="274320" cy="1066320"/>
          </a:xfrm>
          <a:prstGeom prst="roundRect">
            <a:avLst>
              <a:gd name="adj" fmla="val 6934"/>
            </a:avLst>
          </a:prstGeom>
          <a:solidFill>
            <a:srgbClr val="a6b45e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CustomShape 28"/>
          <p:cNvSpPr/>
          <p:nvPr/>
        </p:nvSpPr>
        <p:spPr>
          <a:xfrm>
            <a:off x="8006400" y="3267000"/>
            <a:ext cx="274320" cy="1152000"/>
          </a:xfrm>
          <a:prstGeom prst="roundRect">
            <a:avLst>
              <a:gd name="adj" fmla="val 6934"/>
            </a:avLst>
          </a:prstGeom>
          <a:solidFill>
            <a:srgbClr val="a6b45e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CustomShape 29"/>
          <p:cNvSpPr/>
          <p:nvPr/>
        </p:nvSpPr>
        <p:spPr>
          <a:xfrm>
            <a:off x="8309520" y="3562200"/>
            <a:ext cx="274320" cy="856800"/>
          </a:xfrm>
          <a:prstGeom prst="roundRect">
            <a:avLst>
              <a:gd name="adj" fmla="val 6934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CustomShape 30"/>
          <p:cNvSpPr/>
          <p:nvPr/>
        </p:nvSpPr>
        <p:spPr>
          <a:xfrm>
            <a:off x="8613000" y="4076640"/>
            <a:ext cx="274320" cy="342720"/>
          </a:xfrm>
          <a:prstGeom prst="roundRect">
            <a:avLst>
              <a:gd name="adj" fmla="val 6934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CustomShape 31"/>
          <p:cNvSpPr/>
          <p:nvPr/>
        </p:nvSpPr>
        <p:spPr>
          <a:xfrm>
            <a:off x="1333440" y="4533840"/>
            <a:ext cx="4874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-1" strike="noStrike">
                <a:solidFill>
                  <a:srgbClr val="9c9676"/>
                </a:solidFill>
                <a:latin typeface="Courier New"/>
                <a:ea typeface="Courier New"/>
              </a:rPr>
              <a:t>22 h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225" name="CustomShape 32"/>
          <p:cNvSpPr/>
          <p:nvPr/>
        </p:nvSpPr>
        <p:spPr>
          <a:xfrm>
            <a:off x="3714120" y="4533840"/>
            <a:ext cx="4874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-1" strike="noStrike">
                <a:solidFill>
                  <a:srgbClr val="9c9676"/>
                </a:solidFill>
                <a:latin typeface="Courier New"/>
                <a:ea typeface="Courier New"/>
              </a:rPr>
              <a:t>06 h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226" name="CustomShape 33"/>
          <p:cNvSpPr/>
          <p:nvPr/>
        </p:nvSpPr>
        <p:spPr>
          <a:xfrm>
            <a:off x="6094440" y="4533840"/>
            <a:ext cx="4874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-1" strike="noStrike">
                <a:solidFill>
                  <a:srgbClr val="9c9676"/>
                </a:solidFill>
                <a:latin typeface="Courier New"/>
                <a:ea typeface="Courier New"/>
              </a:rPr>
              <a:t>14 h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227" name="CustomShape 34"/>
          <p:cNvSpPr/>
          <p:nvPr/>
        </p:nvSpPr>
        <p:spPr>
          <a:xfrm>
            <a:off x="8475120" y="4533840"/>
            <a:ext cx="4874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-1" strike="noStrike">
                <a:solidFill>
                  <a:srgbClr val="9c9676"/>
                </a:solidFill>
                <a:latin typeface="Courier New"/>
                <a:ea typeface="Courier New"/>
              </a:rPr>
              <a:t>22 h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228" name="CustomShape 35"/>
          <p:cNvSpPr/>
          <p:nvPr/>
        </p:nvSpPr>
        <p:spPr>
          <a:xfrm>
            <a:off x="9401040" y="2171880"/>
            <a:ext cx="7779600" cy="51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650" spc="262" strike="noStrike">
                <a:solidFill>
                  <a:srgbClr val="8a7f4e"/>
                </a:solidFill>
                <a:latin typeface="Courier New"/>
                <a:ea typeface="Courier New"/>
              </a:rPr>
              <a:t>GAUGE — CHECKOUTS OUVERTS · </a:t>
            </a:r>
            <a:r>
              <a:rPr b="1" lang="fr-FR" sz="1650" spc="262" strike="noStrike">
                <a:solidFill>
                  <a:srgbClr val="4c5d0d"/>
                </a:solidFill>
                <a:latin typeface="Courier New"/>
                <a:ea typeface="Courier New"/>
              </a:rPr>
              <a:t>MONTE ↑ DESCEND ↓, PIC 500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229" name="CustomShape 36"/>
          <p:cNvSpPr/>
          <p:nvPr/>
        </p:nvSpPr>
        <p:spPr>
          <a:xfrm>
            <a:off x="9401040" y="4419720"/>
            <a:ext cx="7552800" cy="18720"/>
          </a:xfrm>
          <a:prstGeom prst="rect">
            <a:avLst/>
          </a:prstGeom>
          <a:solidFill>
            <a:srgbClr val="c9c4b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0" name="Image 1" descr="preencoded.png"/>
          <p:cNvPicPr/>
          <p:nvPr/>
        </p:nvPicPr>
        <p:blipFill>
          <a:blip r:embed="rId2"/>
          <a:stretch/>
        </p:blipFill>
        <p:spPr>
          <a:xfrm>
            <a:off x="9401040" y="2800440"/>
            <a:ext cx="7552800" cy="1638000"/>
          </a:xfrm>
          <a:prstGeom prst="rect">
            <a:avLst/>
          </a:prstGeom>
          <a:ln>
            <a:noFill/>
          </a:ln>
        </p:spPr>
      </p:pic>
      <p:sp>
        <p:nvSpPr>
          <p:cNvPr id="231" name="CustomShape 37"/>
          <p:cNvSpPr/>
          <p:nvPr/>
        </p:nvSpPr>
        <p:spPr>
          <a:xfrm>
            <a:off x="15018480" y="2962440"/>
            <a:ext cx="95040" cy="95040"/>
          </a:xfrm>
          <a:prstGeom prst="ellipse">
            <a:avLst/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CustomShape 38"/>
          <p:cNvSpPr/>
          <p:nvPr/>
        </p:nvSpPr>
        <p:spPr>
          <a:xfrm>
            <a:off x="14894640" y="2781360"/>
            <a:ext cx="4190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500" spc="-1" strike="noStrike">
                <a:solidFill>
                  <a:srgbClr val="4c5d0d"/>
                </a:solidFill>
                <a:latin typeface="Courier New"/>
                <a:ea typeface="Courier New"/>
              </a:rPr>
              <a:t>500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33" name="CustomShape 39"/>
          <p:cNvSpPr/>
          <p:nvPr/>
        </p:nvSpPr>
        <p:spPr>
          <a:xfrm>
            <a:off x="9401040" y="4533840"/>
            <a:ext cx="4874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-1" strike="noStrike">
                <a:solidFill>
                  <a:srgbClr val="9c9676"/>
                </a:solidFill>
                <a:latin typeface="Courier New"/>
                <a:ea typeface="Courier New"/>
              </a:rPr>
              <a:t>22 h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234" name="CustomShape 40"/>
          <p:cNvSpPr/>
          <p:nvPr/>
        </p:nvSpPr>
        <p:spPr>
          <a:xfrm>
            <a:off x="11781720" y="4533840"/>
            <a:ext cx="4874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-1" strike="noStrike">
                <a:solidFill>
                  <a:srgbClr val="9c9676"/>
                </a:solidFill>
                <a:latin typeface="Courier New"/>
                <a:ea typeface="Courier New"/>
              </a:rPr>
              <a:t>06 h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235" name="CustomShape 41"/>
          <p:cNvSpPr/>
          <p:nvPr/>
        </p:nvSpPr>
        <p:spPr>
          <a:xfrm>
            <a:off x="14162040" y="4533840"/>
            <a:ext cx="4874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-1" strike="noStrike">
                <a:solidFill>
                  <a:srgbClr val="9c9676"/>
                </a:solidFill>
                <a:latin typeface="Courier New"/>
                <a:ea typeface="Courier New"/>
              </a:rPr>
              <a:t>14 h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236" name="CustomShape 42"/>
          <p:cNvSpPr/>
          <p:nvPr/>
        </p:nvSpPr>
        <p:spPr>
          <a:xfrm>
            <a:off x="16542720" y="4533840"/>
            <a:ext cx="4874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-1" strike="noStrike">
                <a:solidFill>
                  <a:srgbClr val="9c9676"/>
                </a:solidFill>
                <a:latin typeface="Courier New"/>
                <a:ea typeface="Courier New"/>
              </a:rPr>
              <a:t>22 h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237" name="CustomShape 43"/>
          <p:cNvSpPr/>
          <p:nvPr/>
        </p:nvSpPr>
        <p:spPr>
          <a:xfrm>
            <a:off x="1333440" y="5076720"/>
            <a:ext cx="8269920" cy="552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LONE WOLF — RATIOS EDIT / SUBMIT LES PLUS EXTRÊMES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238" name="CustomShape 44"/>
          <p:cNvSpPr/>
          <p:nvPr/>
        </p:nvSpPr>
        <p:spPr>
          <a:xfrm>
            <a:off x="1333440" y="5829480"/>
            <a:ext cx="157140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Courier New"/>
                <a:ea typeface="Courier New"/>
              </a:rPr>
              <a:t>achavy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39" name="CustomShape 45"/>
          <p:cNvSpPr/>
          <p:nvPr/>
        </p:nvSpPr>
        <p:spPr>
          <a:xfrm>
            <a:off x="2952720" y="5829480"/>
            <a:ext cx="4314240" cy="247320"/>
          </a:xfrm>
          <a:prstGeom prst="roundRect">
            <a:avLst>
              <a:gd name="adj" fmla="val 11538"/>
            </a:avLst>
          </a:prstGeom>
          <a:solidFill>
            <a:srgbClr val="ece8d8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CustomShape 46"/>
          <p:cNvSpPr/>
          <p:nvPr/>
        </p:nvSpPr>
        <p:spPr>
          <a:xfrm>
            <a:off x="2952720" y="5829480"/>
            <a:ext cx="4314240" cy="247320"/>
          </a:xfrm>
          <a:prstGeom prst="rect">
            <a:avLst/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CustomShape 47"/>
          <p:cNvSpPr/>
          <p:nvPr/>
        </p:nvSpPr>
        <p:spPr>
          <a:xfrm>
            <a:off x="7267320" y="5800680"/>
            <a:ext cx="209520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fr-FR" sz="1879" spc="-1" strike="noStrike">
                <a:solidFill>
                  <a:srgbClr val="4c5d0d"/>
                </a:solidFill>
                <a:latin typeface="Arial"/>
                <a:ea typeface="Arial"/>
              </a:rPr>
              <a:t>×182 </a:t>
            </a:r>
            <a:r>
              <a:rPr b="0" lang="fr-FR" sz="1650" spc="-1" strike="noStrike">
                <a:solidFill>
                  <a:srgbClr val="62674a"/>
                </a:solidFill>
                <a:latin typeface="Arial"/>
                <a:ea typeface="Arial"/>
              </a:rPr>
              <a:t>364 / 2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242" name="CustomShape 48"/>
          <p:cNvSpPr/>
          <p:nvPr/>
        </p:nvSpPr>
        <p:spPr>
          <a:xfrm>
            <a:off x="1333440" y="6286680"/>
            <a:ext cx="157140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Courier New"/>
                <a:ea typeface="Courier New"/>
              </a:rPr>
              <a:t>mafleury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43" name="CustomShape 49"/>
          <p:cNvSpPr/>
          <p:nvPr/>
        </p:nvSpPr>
        <p:spPr>
          <a:xfrm>
            <a:off x="2952720" y="6286680"/>
            <a:ext cx="4314240" cy="247320"/>
          </a:xfrm>
          <a:prstGeom prst="roundRect">
            <a:avLst>
              <a:gd name="adj" fmla="val 11538"/>
            </a:avLst>
          </a:prstGeom>
          <a:solidFill>
            <a:srgbClr val="ece8d8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CustomShape 50"/>
          <p:cNvSpPr/>
          <p:nvPr/>
        </p:nvSpPr>
        <p:spPr>
          <a:xfrm>
            <a:off x="2952720" y="6286680"/>
            <a:ext cx="2717640" cy="247320"/>
          </a:xfrm>
          <a:prstGeom prst="rect">
            <a:avLst/>
          </a:prstGeom>
          <a:solidFill>
            <a:srgbClr val="6e821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CustomShape 51"/>
          <p:cNvSpPr/>
          <p:nvPr/>
        </p:nvSpPr>
        <p:spPr>
          <a:xfrm>
            <a:off x="7267320" y="6257880"/>
            <a:ext cx="209520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fr-FR" sz="1879" spc="-1" strike="noStrike">
                <a:solidFill>
                  <a:srgbClr val="4c5d0d"/>
                </a:solidFill>
                <a:latin typeface="Arial"/>
                <a:ea typeface="Arial"/>
              </a:rPr>
              <a:t>×115 </a:t>
            </a:r>
            <a:r>
              <a:rPr b="0" lang="fr-FR" sz="1650" spc="-1" strike="noStrike">
                <a:solidFill>
                  <a:srgbClr val="62674a"/>
                </a:solidFill>
                <a:latin typeface="Arial"/>
                <a:ea typeface="Arial"/>
              </a:rPr>
              <a:t>230 / 2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246" name="CustomShape 52"/>
          <p:cNvSpPr/>
          <p:nvPr/>
        </p:nvSpPr>
        <p:spPr>
          <a:xfrm>
            <a:off x="1333440" y="6743880"/>
            <a:ext cx="157140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Courier New"/>
                <a:ea typeface="Courier New"/>
              </a:rPr>
              <a:t>mtiger1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47" name="CustomShape 53"/>
          <p:cNvSpPr/>
          <p:nvPr/>
        </p:nvSpPr>
        <p:spPr>
          <a:xfrm>
            <a:off x="2952720" y="6743880"/>
            <a:ext cx="4314240" cy="247320"/>
          </a:xfrm>
          <a:prstGeom prst="roundRect">
            <a:avLst>
              <a:gd name="adj" fmla="val 11538"/>
            </a:avLst>
          </a:prstGeom>
          <a:solidFill>
            <a:srgbClr val="ece8d8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CustomShape 54"/>
          <p:cNvSpPr/>
          <p:nvPr/>
        </p:nvSpPr>
        <p:spPr>
          <a:xfrm>
            <a:off x="2952720" y="6743880"/>
            <a:ext cx="1725480" cy="247320"/>
          </a:xfrm>
          <a:prstGeom prst="rect">
            <a:avLst/>
          </a:prstGeom>
          <a:solidFill>
            <a:srgbClr val="6e821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CustomShape 55"/>
          <p:cNvSpPr/>
          <p:nvPr/>
        </p:nvSpPr>
        <p:spPr>
          <a:xfrm>
            <a:off x="7267320" y="6715080"/>
            <a:ext cx="209520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fr-FR" sz="1879" spc="-1" strike="noStrike">
                <a:solidFill>
                  <a:srgbClr val="4c5d0d"/>
                </a:solidFill>
                <a:latin typeface="Arial"/>
                <a:ea typeface="Arial"/>
              </a:rPr>
              <a:t>×72 </a:t>
            </a:r>
            <a:r>
              <a:rPr b="0" lang="fr-FR" sz="1650" spc="-1" strike="noStrike">
                <a:solidFill>
                  <a:srgbClr val="62674a"/>
                </a:solidFill>
                <a:latin typeface="Arial"/>
                <a:ea typeface="Arial"/>
              </a:rPr>
              <a:t>216 / 3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250" name="CustomShape 56"/>
          <p:cNvSpPr/>
          <p:nvPr/>
        </p:nvSpPr>
        <p:spPr>
          <a:xfrm>
            <a:off x="1333440" y="7201080"/>
            <a:ext cx="157140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Courier New"/>
                <a:ea typeface="Courier New"/>
              </a:rPr>
              <a:t>etrembla94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51" name="CustomShape 57"/>
          <p:cNvSpPr/>
          <p:nvPr/>
        </p:nvSpPr>
        <p:spPr>
          <a:xfrm>
            <a:off x="2952720" y="7201080"/>
            <a:ext cx="4314240" cy="247320"/>
          </a:xfrm>
          <a:prstGeom prst="roundRect">
            <a:avLst>
              <a:gd name="adj" fmla="val 11538"/>
            </a:avLst>
          </a:prstGeom>
          <a:solidFill>
            <a:srgbClr val="ece8d8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CustomShape 58"/>
          <p:cNvSpPr/>
          <p:nvPr/>
        </p:nvSpPr>
        <p:spPr>
          <a:xfrm>
            <a:off x="2952720" y="7201080"/>
            <a:ext cx="1078200" cy="247320"/>
          </a:xfrm>
          <a:prstGeom prst="rect">
            <a:avLst/>
          </a:prstGeom>
          <a:solidFill>
            <a:srgbClr val="9caa4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CustomShape 59"/>
          <p:cNvSpPr/>
          <p:nvPr/>
        </p:nvSpPr>
        <p:spPr>
          <a:xfrm>
            <a:off x="7267320" y="7172280"/>
            <a:ext cx="209520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fr-FR" sz="1879" spc="-1" strike="noStrike">
                <a:solidFill>
                  <a:srgbClr val="4c5d0d"/>
                </a:solidFill>
                <a:latin typeface="Arial"/>
                <a:ea typeface="Arial"/>
              </a:rPr>
              <a:t>×45 </a:t>
            </a:r>
            <a:r>
              <a:rPr b="0" lang="fr-FR" sz="1650" spc="-1" strike="noStrike">
                <a:solidFill>
                  <a:srgbClr val="62674a"/>
                </a:solidFill>
                <a:latin typeface="Arial"/>
                <a:ea typeface="Arial"/>
              </a:rPr>
              <a:t>90 / 2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254" name="CustomShape 60"/>
          <p:cNvSpPr/>
          <p:nvPr/>
        </p:nvSpPr>
        <p:spPr>
          <a:xfrm>
            <a:off x="1333440" y="7658280"/>
            <a:ext cx="157140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Courier New"/>
                <a:ea typeface="Courier New"/>
              </a:rPr>
              <a:t>lgauthie14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55" name="CustomShape 61"/>
          <p:cNvSpPr/>
          <p:nvPr/>
        </p:nvSpPr>
        <p:spPr>
          <a:xfrm>
            <a:off x="2952720" y="7658280"/>
            <a:ext cx="4314240" cy="247320"/>
          </a:xfrm>
          <a:prstGeom prst="roundRect">
            <a:avLst>
              <a:gd name="adj" fmla="val 11538"/>
            </a:avLst>
          </a:prstGeom>
          <a:solidFill>
            <a:srgbClr val="ece8d8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CustomShape 62"/>
          <p:cNvSpPr/>
          <p:nvPr/>
        </p:nvSpPr>
        <p:spPr>
          <a:xfrm>
            <a:off x="2952720" y="7658280"/>
            <a:ext cx="819360" cy="247320"/>
          </a:xfrm>
          <a:prstGeom prst="rect">
            <a:avLst/>
          </a:prstGeom>
          <a:solidFill>
            <a:srgbClr val="9caa4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CustomShape 63"/>
          <p:cNvSpPr/>
          <p:nvPr/>
        </p:nvSpPr>
        <p:spPr>
          <a:xfrm>
            <a:off x="7267320" y="7629480"/>
            <a:ext cx="209520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fr-FR" sz="1879" spc="-1" strike="noStrike">
                <a:solidFill>
                  <a:srgbClr val="4c5d0d"/>
                </a:solidFill>
                <a:latin typeface="Arial"/>
                <a:ea typeface="Arial"/>
              </a:rPr>
              <a:t>×35 </a:t>
            </a:r>
            <a:r>
              <a:rPr b="0" lang="fr-FR" sz="1650" spc="-1" strike="noStrike">
                <a:solidFill>
                  <a:srgbClr val="62674a"/>
                </a:solidFill>
                <a:latin typeface="Arial"/>
                <a:ea typeface="Arial"/>
              </a:rPr>
              <a:t>140 / 4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258" name="CustomShape 64"/>
          <p:cNvSpPr/>
          <p:nvPr/>
        </p:nvSpPr>
        <p:spPr>
          <a:xfrm>
            <a:off x="1333440" y="8115480"/>
            <a:ext cx="157140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Courier New"/>
                <a:ea typeface="Courier New"/>
              </a:rPr>
              <a:t>camblard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59" name="CustomShape 65"/>
          <p:cNvSpPr/>
          <p:nvPr/>
        </p:nvSpPr>
        <p:spPr>
          <a:xfrm>
            <a:off x="2952720" y="8115480"/>
            <a:ext cx="4314240" cy="247320"/>
          </a:xfrm>
          <a:prstGeom prst="roundRect">
            <a:avLst>
              <a:gd name="adj" fmla="val 11538"/>
            </a:avLst>
          </a:prstGeom>
          <a:solidFill>
            <a:srgbClr val="ece8d8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CustomShape 66"/>
          <p:cNvSpPr/>
          <p:nvPr/>
        </p:nvSpPr>
        <p:spPr>
          <a:xfrm>
            <a:off x="2952720" y="8115480"/>
            <a:ext cx="646920" cy="247320"/>
          </a:xfrm>
          <a:prstGeom prst="rect">
            <a:avLst/>
          </a:prstGeom>
          <a:solidFill>
            <a:srgbClr val="9caa4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CustomShape 67"/>
          <p:cNvSpPr/>
          <p:nvPr/>
        </p:nvSpPr>
        <p:spPr>
          <a:xfrm>
            <a:off x="7267320" y="8086680"/>
            <a:ext cx="2095200" cy="34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fr-FR" sz="1879" spc="-1" strike="noStrike">
                <a:solidFill>
                  <a:srgbClr val="4c5d0d"/>
                </a:solidFill>
                <a:latin typeface="Arial"/>
                <a:ea typeface="Arial"/>
              </a:rPr>
              <a:t>×28 </a:t>
            </a:r>
            <a:r>
              <a:rPr b="0" lang="fr-FR" sz="1650" spc="-1" strike="noStrike">
                <a:solidFill>
                  <a:srgbClr val="62674a"/>
                </a:solidFill>
                <a:latin typeface="Arial"/>
                <a:ea typeface="Arial"/>
              </a:rPr>
              <a:t>85 / 3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262" name="CustomShape 68"/>
          <p:cNvSpPr/>
          <p:nvPr/>
        </p:nvSpPr>
        <p:spPr>
          <a:xfrm>
            <a:off x="1333440" y="8582040"/>
            <a:ext cx="8831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fr-FR" sz="1650" spc="-1" strike="noStrike">
                <a:solidFill>
                  <a:srgbClr val="7a7e62"/>
                </a:solidFill>
                <a:latin typeface="Arial"/>
                <a:ea typeface="Arial"/>
              </a:rPr>
              <a:t>Beaucoup de travail local, très peu partagé avec l'équipe.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263" name="CustomShape 69"/>
          <p:cNvSpPr/>
          <p:nvPr/>
        </p:nvSpPr>
        <p:spPr>
          <a:xfrm>
            <a:off x="9972360" y="5076720"/>
            <a:ext cx="767988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358" strike="noStrike">
                <a:solidFill>
                  <a:srgbClr val="8a7f4e"/>
                </a:solidFill>
                <a:latin typeface="Courier New"/>
                <a:ea typeface="Courier New"/>
              </a:rPr>
              <a:t>SUMMARY — DURÉES (S) PAR COMMANDE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264" name="CustomShape 70"/>
          <p:cNvSpPr/>
          <p:nvPr/>
        </p:nvSpPr>
        <p:spPr>
          <a:xfrm>
            <a:off x="9972360" y="5543640"/>
            <a:ext cx="6981480" cy="3095280"/>
          </a:xfrm>
          <a:prstGeom prst="roundRect">
            <a:avLst>
              <a:gd name="adj" fmla="val 1538"/>
            </a:avLst>
          </a:prstGeom>
          <a:solidFill>
            <a:srgbClr val="fcfbf4"/>
          </a:solidFill>
          <a:ln w="9360">
            <a:solidFill>
              <a:srgbClr val="e3dfd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CustomShape 71"/>
          <p:cNvSpPr/>
          <p:nvPr/>
        </p:nvSpPr>
        <p:spPr>
          <a:xfrm>
            <a:off x="9982080" y="5553000"/>
            <a:ext cx="6962400" cy="523440"/>
          </a:xfrm>
          <a:prstGeom prst="rect">
            <a:avLst/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CustomShape 72"/>
          <p:cNvSpPr/>
          <p:nvPr/>
        </p:nvSpPr>
        <p:spPr>
          <a:xfrm>
            <a:off x="10191600" y="5705640"/>
            <a:ext cx="164628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f5f4ec"/>
                </a:solidFill>
                <a:latin typeface="Courier New"/>
                <a:ea typeface="Courier New"/>
              </a:rPr>
              <a:t>Commande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267" name="CustomShape 73"/>
          <p:cNvSpPr/>
          <p:nvPr/>
        </p:nvSpPr>
        <p:spPr>
          <a:xfrm>
            <a:off x="12047400" y="5705640"/>
            <a:ext cx="14288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f5f4ec"/>
                </a:solidFill>
                <a:latin typeface="Courier New"/>
                <a:ea typeface="Courier New"/>
              </a:rPr>
              <a:t>p50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268" name="CustomShape 74"/>
          <p:cNvSpPr/>
          <p:nvPr/>
        </p:nvSpPr>
        <p:spPr>
          <a:xfrm>
            <a:off x="13705200" y="5705640"/>
            <a:ext cx="142884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f5f4ec"/>
                </a:solidFill>
                <a:latin typeface="Courier New"/>
                <a:ea typeface="Courier New"/>
              </a:rPr>
              <a:t>p95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269" name="CustomShape 75"/>
          <p:cNvSpPr/>
          <p:nvPr/>
        </p:nvSpPr>
        <p:spPr>
          <a:xfrm>
            <a:off x="15420240" y="5705640"/>
            <a:ext cx="131472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f5f4ec"/>
                </a:solidFill>
                <a:latin typeface="Courier New"/>
                <a:ea typeface="Courier New"/>
              </a:rPr>
              <a:t>p99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270" name="CustomShape 76"/>
          <p:cNvSpPr/>
          <p:nvPr/>
        </p:nvSpPr>
        <p:spPr>
          <a:xfrm>
            <a:off x="9982080" y="6076800"/>
            <a:ext cx="6962400" cy="9000"/>
          </a:xfrm>
          <a:prstGeom prst="rect">
            <a:avLst/>
          </a:prstGeom>
          <a:solidFill>
            <a:srgbClr val="eae5d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CustomShape 77"/>
          <p:cNvSpPr/>
          <p:nvPr/>
        </p:nvSpPr>
        <p:spPr>
          <a:xfrm>
            <a:off x="10191600" y="6257880"/>
            <a:ext cx="164628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Arial"/>
                <a:ea typeface="Arial"/>
              </a:rPr>
              <a:t>global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72" name="CustomShape 78"/>
          <p:cNvSpPr/>
          <p:nvPr/>
        </p:nvSpPr>
        <p:spPr>
          <a:xfrm>
            <a:off x="12047400" y="6257880"/>
            <a:ext cx="142884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3c402a"/>
                </a:solidFill>
                <a:latin typeface="Courier New"/>
                <a:ea typeface="Courier New"/>
              </a:rPr>
              <a:t>0,094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73" name="CustomShape 79"/>
          <p:cNvSpPr/>
          <p:nvPr/>
        </p:nvSpPr>
        <p:spPr>
          <a:xfrm>
            <a:off x="13705200" y="6257880"/>
            <a:ext cx="142884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3c402a"/>
                </a:solidFill>
                <a:latin typeface="Courier New"/>
                <a:ea typeface="Courier New"/>
              </a:rPr>
              <a:t>1,144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74" name="CustomShape 80"/>
          <p:cNvSpPr/>
          <p:nvPr/>
        </p:nvSpPr>
        <p:spPr>
          <a:xfrm>
            <a:off x="15420240" y="6257880"/>
            <a:ext cx="131472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3c402a"/>
                </a:solidFill>
                <a:latin typeface="Courier New"/>
                <a:ea typeface="Courier New"/>
              </a:rPr>
              <a:t>85,1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75" name="CustomShape 81"/>
          <p:cNvSpPr/>
          <p:nvPr/>
        </p:nvSpPr>
        <p:spPr>
          <a:xfrm>
            <a:off x="9982080" y="6715080"/>
            <a:ext cx="6962400" cy="9000"/>
          </a:xfrm>
          <a:prstGeom prst="rect">
            <a:avLst/>
          </a:prstGeom>
          <a:solidFill>
            <a:srgbClr val="eae5d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CustomShape 82"/>
          <p:cNvSpPr/>
          <p:nvPr/>
        </p:nvSpPr>
        <p:spPr>
          <a:xfrm>
            <a:off x="10191600" y="6896160"/>
            <a:ext cx="164628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Arial"/>
                <a:ea typeface="Arial"/>
              </a:rPr>
              <a:t>edit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77" name="CustomShape 83"/>
          <p:cNvSpPr/>
          <p:nvPr/>
        </p:nvSpPr>
        <p:spPr>
          <a:xfrm>
            <a:off x="12047400" y="6896160"/>
            <a:ext cx="142884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3c402a"/>
                </a:solidFill>
                <a:latin typeface="Courier New"/>
                <a:ea typeface="Courier New"/>
              </a:rPr>
              <a:t>0,110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78" name="CustomShape 84"/>
          <p:cNvSpPr/>
          <p:nvPr/>
        </p:nvSpPr>
        <p:spPr>
          <a:xfrm>
            <a:off x="13705200" y="6896160"/>
            <a:ext cx="142884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3c402a"/>
                </a:solidFill>
                <a:latin typeface="Courier New"/>
                <a:ea typeface="Courier New"/>
              </a:rPr>
              <a:t>0,204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79" name="CustomShape 85"/>
          <p:cNvSpPr/>
          <p:nvPr/>
        </p:nvSpPr>
        <p:spPr>
          <a:xfrm>
            <a:off x="15420240" y="6896160"/>
            <a:ext cx="131472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3c402a"/>
                </a:solidFill>
                <a:latin typeface="Courier New"/>
                <a:ea typeface="Courier New"/>
              </a:rPr>
              <a:t>0,698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80" name="CustomShape 86"/>
          <p:cNvSpPr/>
          <p:nvPr/>
        </p:nvSpPr>
        <p:spPr>
          <a:xfrm>
            <a:off x="9982080" y="7353360"/>
            <a:ext cx="6962400" cy="9000"/>
          </a:xfrm>
          <a:prstGeom prst="rect">
            <a:avLst/>
          </a:prstGeom>
          <a:solidFill>
            <a:srgbClr val="eae5d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CustomShape 87"/>
          <p:cNvSpPr/>
          <p:nvPr/>
        </p:nvSpPr>
        <p:spPr>
          <a:xfrm>
            <a:off x="10191600" y="7534440"/>
            <a:ext cx="164628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Arial"/>
                <a:ea typeface="Arial"/>
              </a:rPr>
              <a:t>submit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82" name="CustomShape 88"/>
          <p:cNvSpPr/>
          <p:nvPr/>
        </p:nvSpPr>
        <p:spPr>
          <a:xfrm>
            <a:off x="12047400" y="7534440"/>
            <a:ext cx="142884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3c402a"/>
                </a:solidFill>
                <a:latin typeface="Courier New"/>
                <a:ea typeface="Courier New"/>
              </a:rPr>
              <a:t>0,125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83" name="CustomShape 89"/>
          <p:cNvSpPr/>
          <p:nvPr/>
        </p:nvSpPr>
        <p:spPr>
          <a:xfrm>
            <a:off x="13705200" y="7534440"/>
            <a:ext cx="142884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3c402a"/>
                </a:solidFill>
                <a:latin typeface="Courier New"/>
                <a:ea typeface="Courier New"/>
              </a:rPr>
              <a:t>0,250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84" name="CustomShape 90"/>
          <p:cNvSpPr/>
          <p:nvPr/>
        </p:nvSpPr>
        <p:spPr>
          <a:xfrm>
            <a:off x="15420240" y="7534440"/>
            <a:ext cx="131472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3c402a"/>
                </a:solidFill>
                <a:latin typeface="Courier New"/>
                <a:ea typeface="Courier New"/>
              </a:rPr>
              <a:t>0,821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85" name="CustomShape 91"/>
          <p:cNvSpPr/>
          <p:nvPr/>
        </p:nvSpPr>
        <p:spPr>
          <a:xfrm>
            <a:off x="9982080" y="7991640"/>
            <a:ext cx="6962400" cy="637920"/>
          </a:xfrm>
          <a:prstGeom prst="rect">
            <a:avLst/>
          </a:prstGeom>
          <a:solidFill>
            <a:srgbClr val="f3f0e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CustomShape 92"/>
          <p:cNvSpPr/>
          <p:nvPr/>
        </p:nvSpPr>
        <p:spPr>
          <a:xfrm>
            <a:off x="9982080" y="7991640"/>
            <a:ext cx="6962400" cy="9000"/>
          </a:xfrm>
          <a:prstGeom prst="rect">
            <a:avLst/>
          </a:prstGeom>
          <a:solidFill>
            <a:srgbClr val="eae5d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CustomShape 93"/>
          <p:cNvSpPr/>
          <p:nvPr/>
        </p:nvSpPr>
        <p:spPr>
          <a:xfrm>
            <a:off x="10191600" y="8172360"/>
            <a:ext cx="164628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Arial"/>
                <a:ea typeface="Arial"/>
              </a:rPr>
              <a:t>sync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88" name="CustomShape 94"/>
          <p:cNvSpPr/>
          <p:nvPr/>
        </p:nvSpPr>
        <p:spPr>
          <a:xfrm>
            <a:off x="12047400" y="8172360"/>
            <a:ext cx="142884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3c402a"/>
                </a:solidFill>
                <a:latin typeface="Courier New"/>
                <a:ea typeface="Courier New"/>
              </a:rPr>
              <a:t>0,188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89" name="CustomShape 95"/>
          <p:cNvSpPr/>
          <p:nvPr/>
        </p:nvSpPr>
        <p:spPr>
          <a:xfrm>
            <a:off x="13705200" y="8172360"/>
            <a:ext cx="142884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729" spc="-1" strike="noStrike">
                <a:solidFill>
                  <a:srgbClr val="8a6a1f"/>
                </a:solidFill>
                <a:latin typeface="Courier New"/>
                <a:ea typeface="Courier New"/>
              </a:rPr>
              <a:t>104,7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90" name="CustomShape 96"/>
          <p:cNvSpPr/>
          <p:nvPr/>
        </p:nvSpPr>
        <p:spPr>
          <a:xfrm>
            <a:off x="15420240" y="8172360"/>
            <a:ext cx="131472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a6431f"/>
                </a:solidFill>
                <a:latin typeface="Courier New"/>
                <a:ea typeface="Courier New"/>
              </a:rPr>
              <a:t>1 102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291" name="CustomShape 97"/>
          <p:cNvSpPr/>
          <p:nvPr/>
        </p:nvSpPr>
        <p:spPr>
          <a:xfrm>
            <a:off x="9972360" y="8791560"/>
            <a:ext cx="767988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580" spc="-1" strike="noStrike">
                <a:solidFill>
                  <a:srgbClr val="4c5d0d"/>
                </a:solidFill>
                <a:latin typeface="Arial"/>
                <a:ea typeface="Arial"/>
              </a:rPr>
              <a:t>p50 </a:t>
            </a:r>
            <a:r>
              <a:rPr b="0" lang="fr-FR" sz="1580" spc="-1" strike="noStrike">
                <a:solidFill>
                  <a:srgbClr val="62674a"/>
                </a:solidFill>
                <a:latin typeface="Arial"/>
                <a:ea typeface="Arial"/>
              </a:rPr>
              <a:t>= médiane · </a:t>
            </a:r>
            <a:r>
              <a:rPr b="1" lang="fr-FR" sz="1580" spc="-1" strike="noStrike">
                <a:solidFill>
                  <a:srgbClr val="4c5d0d"/>
                </a:solidFill>
                <a:latin typeface="Arial"/>
                <a:ea typeface="Arial"/>
              </a:rPr>
              <a:t>p95 </a:t>
            </a:r>
            <a:r>
              <a:rPr b="0" lang="fr-FR" sz="1580" spc="-1" strike="noStrike">
                <a:solidFill>
                  <a:srgbClr val="62674a"/>
                </a:solidFill>
                <a:latin typeface="Arial"/>
                <a:ea typeface="Arial"/>
              </a:rPr>
              <a:t>= 5 % les plus lents · </a:t>
            </a:r>
            <a:r>
              <a:rPr b="1" lang="fr-FR" sz="1580" spc="-1" strike="noStrike">
                <a:solidFill>
                  <a:srgbClr val="4c5d0d"/>
                </a:solidFill>
                <a:latin typeface="Arial"/>
                <a:ea typeface="Arial"/>
              </a:rPr>
              <a:t>p99 </a:t>
            </a:r>
            <a:r>
              <a:rPr b="0" lang="fr-FR" sz="1580" spc="-1" strike="noStrike">
                <a:solidFill>
                  <a:srgbClr val="62674a"/>
                </a:solidFill>
                <a:latin typeface="Arial"/>
                <a:ea typeface="Arial"/>
              </a:rPr>
              <a:t>= 1 % le plus lent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292" name="CustomShape 98"/>
          <p:cNvSpPr/>
          <p:nvPr/>
        </p:nvSpPr>
        <p:spPr>
          <a:xfrm>
            <a:off x="9972360" y="9191520"/>
            <a:ext cx="7191000" cy="53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fr-FR" sz="1650" spc="-1" strike="noStrike">
                <a:solidFill>
                  <a:srgbClr val="7a7e62"/>
                </a:solidFill>
                <a:latin typeface="Arial"/>
                <a:ea typeface="Arial"/>
              </a:rPr>
              <a:t>Commandes quasi instantanées (p50 ≈ 0,1 s), sauf le </a:t>
            </a:r>
            <a:r>
              <a:rPr b="1" lang="fr-FR" sz="1650" spc="-1" strike="noStrike">
                <a:solidFill>
                  <a:srgbClr val="4c5d0d"/>
                </a:solidFill>
                <a:latin typeface="Arial"/>
                <a:ea typeface="Arial"/>
              </a:rPr>
              <a:t>sync </a:t>
            </a:r>
            <a:r>
              <a:rPr b="0" i="1" lang="fr-FR" sz="1650" spc="-1" strike="noStrike">
                <a:solidFill>
                  <a:srgbClr val="7a7e62"/>
                </a:solidFill>
                <a:latin typeface="Arial"/>
                <a:ea typeface="Arial"/>
              </a:rPr>
              <a:t>: longue traîne due aux gros téléchargements d'assets Unreal.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293" name="CustomShape 99"/>
          <p:cNvSpPr/>
          <p:nvPr/>
        </p:nvSpPr>
        <p:spPr>
          <a:xfrm>
            <a:off x="14074200" y="9629640"/>
            <a:ext cx="316800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134" strike="noStrike">
                <a:solidFill>
                  <a:srgbClr val="9c9676"/>
                </a:solidFill>
                <a:latin typeface="Courier New"/>
                <a:ea typeface="Courier New"/>
              </a:rPr>
              <a:t>UQAC · Juin 2026 — 5 / 6</a:t>
            </a:r>
            <a:endParaRPr b="0" lang="fr-FR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Image 0" descr="preencoded.png"/>
          <p:cNvPicPr/>
          <p:nvPr/>
        </p:nvPicPr>
        <p:blipFill>
          <a:blip r:embed="rId1"/>
          <a:stretch/>
        </p:blipFill>
        <p:spPr>
          <a:xfrm>
            <a:off x="15525720" y="762120"/>
            <a:ext cx="1428480" cy="856800"/>
          </a:xfrm>
          <a:prstGeom prst="rect">
            <a:avLst/>
          </a:prstGeom>
          <a:ln>
            <a:noFill/>
          </a:ln>
        </p:spPr>
      </p:pic>
      <p:sp>
        <p:nvSpPr>
          <p:cNvPr id="295" name="CustomShape 1"/>
          <p:cNvSpPr/>
          <p:nvPr/>
        </p:nvSpPr>
        <p:spPr>
          <a:xfrm>
            <a:off x="1333440" y="1200240"/>
            <a:ext cx="487440" cy="29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800" spc="540" strike="noStrike">
                <a:solidFill>
                  <a:srgbClr val="8a9c1f"/>
                </a:solidFill>
                <a:latin typeface="Courier New"/>
                <a:ea typeface="Courier New"/>
              </a:rPr>
              <a:t>05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2011680" y="914400"/>
            <a:ext cx="9733680" cy="60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26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4500" spc="-46" strike="noStrike">
                <a:solidFill>
                  <a:srgbClr val="4c5d0d"/>
                </a:solidFill>
                <a:latin typeface="Georgia"/>
                <a:ea typeface="Georgia"/>
              </a:rPr>
              <a:t>Histogram — distribution des durées</a:t>
            </a:r>
            <a:endParaRPr b="0" lang="fr-FR" sz="4500" spc="-1" strike="noStrike">
              <a:latin typeface="Arial"/>
            </a:endParaRPr>
          </a:p>
        </p:txBody>
      </p:sp>
      <p:sp>
        <p:nvSpPr>
          <p:cNvPr id="297" name="CustomShape 3"/>
          <p:cNvSpPr/>
          <p:nvPr/>
        </p:nvSpPr>
        <p:spPr>
          <a:xfrm>
            <a:off x="1333440" y="1809720"/>
            <a:ext cx="15620760" cy="18720"/>
          </a:xfrm>
          <a:prstGeom prst="rect">
            <a:avLst/>
          </a:prstGeom>
          <a:solidFill>
            <a:srgbClr val="ddd8c7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CustomShape 4"/>
          <p:cNvSpPr/>
          <p:nvPr/>
        </p:nvSpPr>
        <p:spPr>
          <a:xfrm>
            <a:off x="1333440" y="2114640"/>
            <a:ext cx="17182800" cy="27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650" spc="262" strike="noStrike">
                <a:solidFill>
                  <a:srgbClr val="8a7f4e"/>
                </a:solidFill>
                <a:latin typeface="Courier New"/>
                <a:ea typeface="Courier New"/>
              </a:rPr>
              <a:t>PERFORCE_COMMAND_DURATION_SECONDS · 16 232 COMMANDES · 16 BUCKETS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299" name="CustomShape 5"/>
          <p:cNvSpPr/>
          <p:nvPr/>
        </p:nvSpPr>
        <p:spPr>
          <a:xfrm>
            <a:off x="1333440" y="6124680"/>
            <a:ext cx="15620760" cy="18720"/>
          </a:xfrm>
          <a:prstGeom prst="rect">
            <a:avLst/>
          </a:prstGeom>
          <a:solidFill>
            <a:srgbClr val="c9c4b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CustomShape 6"/>
          <p:cNvSpPr/>
          <p:nvPr/>
        </p:nvSpPr>
        <p:spPr>
          <a:xfrm>
            <a:off x="1333440" y="4991040"/>
            <a:ext cx="916560" cy="1133280"/>
          </a:xfrm>
          <a:prstGeom prst="roundRect">
            <a:avLst>
              <a:gd name="adj" fmla="val 3116"/>
            </a:avLst>
          </a:prstGeom>
          <a:solidFill>
            <a:srgbClr val="a6b45e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CustomShape 7"/>
          <p:cNvSpPr/>
          <p:nvPr/>
        </p:nvSpPr>
        <p:spPr>
          <a:xfrm>
            <a:off x="1463040" y="4667400"/>
            <a:ext cx="73332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5c6b2a"/>
                </a:solidFill>
                <a:latin typeface="Courier New"/>
                <a:ea typeface="Courier New"/>
              </a:rPr>
              <a:t>2 180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302" name="CustomShape 8"/>
          <p:cNvSpPr/>
          <p:nvPr/>
        </p:nvSpPr>
        <p:spPr>
          <a:xfrm>
            <a:off x="2383920" y="2933640"/>
            <a:ext cx="916560" cy="3190680"/>
          </a:xfrm>
          <a:prstGeom prst="roundRect">
            <a:avLst>
              <a:gd name="adj" fmla="val 3116"/>
            </a:avLst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CustomShape 9"/>
          <p:cNvSpPr/>
          <p:nvPr/>
        </p:nvSpPr>
        <p:spPr>
          <a:xfrm>
            <a:off x="2513520" y="2610000"/>
            <a:ext cx="73332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Courier New"/>
                <a:ea typeface="Courier New"/>
              </a:rPr>
              <a:t>6 114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304" name="CustomShape 10"/>
          <p:cNvSpPr/>
          <p:nvPr/>
        </p:nvSpPr>
        <p:spPr>
          <a:xfrm>
            <a:off x="3434040" y="2886120"/>
            <a:ext cx="916560" cy="3238200"/>
          </a:xfrm>
          <a:prstGeom prst="roundRect">
            <a:avLst>
              <a:gd name="adj" fmla="val 3116"/>
            </a:avLst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CustomShape 11"/>
          <p:cNvSpPr/>
          <p:nvPr/>
        </p:nvSpPr>
        <p:spPr>
          <a:xfrm>
            <a:off x="3563640" y="2562120"/>
            <a:ext cx="73332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729" spc="-1" strike="noStrike">
                <a:solidFill>
                  <a:srgbClr val="4c5d0d"/>
                </a:solidFill>
                <a:latin typeface="Courier New"/>
                <a:ea typeface="Courier New"/>
              </a:rPr>
              <a:t>6 202</a:t>
            </a:r>
            <a:endParaRPr b="0" lang="fr-FR" sz="1729" spc="-1" strike="noStrike">
              <a:latin typeface="Arial"/>
            </a:endParaRPr>
          </a:p>
        </p:txBody>
      </p:sp>
      <p:sp>
        <p:nvSpPr>
          <p:cNvPr id="306" name="CustomShape 12"/>
          <p:cNvSpPr/>
          <p:nvPr/>
        </p:nvSpPr>
        <p:spPr>
          <a:xfrm>
            <a:off x="4484520" y="5819760"/>
            <a:ext cx="916560" cy="304560"/>
          </a:xfrm>
          <a:prstGeom prst="roundRect">
            <a:avLst>
              <a:gd name="adj" fmla="val 9375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CustomShape 13"/>
          <p:cNvSpPr/>
          <p:nvPr/>
        </p:nvSpPr>
        <p:spPr>
          <a:xfrm>
            <a:off x="4779720" y="5533920"/>
            <a:ext cx="401760" cy="27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430" spc="-1" strike="noStrike">
                <a:solidFill>
                  <a:srgbClr val="9c9676"/>
                </a:solidFill>
                <a:latin typeface="Courier New"/>
                <a:ea typeface="Courier New"/>
              </a:rPr>
              <a:t>584</a:t>
            </a:r>
            <a:endParaRPr b="0" lang="fr-FR" sz="1430" spc="-1" strike="noStrike">
              <a:latin typeface="Arial"/>
            </a:endParaRPr>
          </a:p>
        </p:txBody>
      </p:sp>
      <p:sp>
        <p:nvSpPr>
          <p:cNvPr id="308" name="CustomShape 14"/>
          <p:cNvSpPr/>
          <p:nvPr/>
        </p:nvSpPr>
        <p:spPr>
          <a:xfrm>
            <a:off x="5534640" y="5972040"/>
            <a:ext cx="916560" cy="151920"/>
          </a:xfrm>
          <a:prstGeom prst="roundRect">
            <a:avLst>
              <a:gd name="adj" fmla="val 18750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CustomShape 15"/>
          <p:cNvSpPr/>
          <p:nvPr/>
        </p:nvSpPr>
        <p:spPr>
          <a:xfrm>
            <a:off x="6584760" y="6039000"/>
            <a:ext cx="916560" cy="85320"/>
          </a:xfrm>
          <a:prstGeom prst="roundRect">
            <a:avLst>
              <a:gd name="adj" fmla="val 33333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CustomShape 16"/>
          <p:cNvSpPr/>
          <p:nvPr/>
        </p:nvSpPr>
        <p:spPr>
          <a:xfrm>
            <a:off x="7635240" y="6029280"/>
            <a:ext cx="916560" cy="95040"/>
          </a:xfrm>
          <a:prstGeom prst="roundRect">
            <a:avLst>
              <a:gd name="adj" fmla="val 30000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CustomShape 17"/>
          <p:cNvSpPr/>
          <p:nvPr/>
        </p:nvSpPr>
        <p:spPr>
          <a:xfrm>
            <a:off x="8685360" y="6076800"/>
            <a:ext cx="916560" cy="47160"/>
          </a:xfrm>
          <a:prstGeom prst="roundRect">
            <a:avLst>
              <a:gd name="adj" fmla="val 50000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CustomShape 18"/>
          <p:cNvSpPr/>
          <p:nvPr/>
        </p:nvSpPr>
        <p:spPr>
          <a:xfrm>
            <a:off x="9735840" y="6058080"/>
            <a:ext cx="916560" cy="66240"/>
          </a:xfrm>
          <a:prstGeom prst="roundRect">
            <a:avLst>
              <a:gd name="adj" fmla="val 42857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CustomShape 19"/>
          <p:cNvSpPr/>
          <p:nvPr/>
        </p:nvSpPr>
        <p:spPr>
          <a:xfrm>
            <a:off x="10785960" y="6086520"/>
            <a:ext cx="916560" cy="37800"/>
          </a:xfrm>
          <a:prstGeom prst="roundRect">
            <a:avLst>
              <a:gd name="adj" fmla="val 50000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CustomShape 20"/>
          <p:cNvSpPr/>
          <p:nvPr/>
        </p:nvSpPr>
        <p:spPr>
          <a:xfrm>
            <a:off x="11836440" y="6086520"/>
            <a:ext cx="916560" cy="37800"/>
          </a:xfrm>
          <a:prstGeom prst="roundRect">
            <a:avLst>
              <a:gd name="adj" fmla="val 50000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CustomShape 21"/>
          <p:cNvSpPr/>
          <p:nvPr/>
        </p:nvSpPr>
        <p:spPr>
          <a:xfrm>
            <a:off x="12886560" y="6086520"/>
            <a:ext cx="916560" cy="37800"/>
          </a:xfrm>
          <a:prstGeom prst="roundRect">
            <a:avLst>
              <a:gd name="adj" fmla="val 50000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CustomShape 22"/>
          <p:cNvSpPr/>
          <p:nvPr/>
        </p:nvSpPr>
        <p:spPr>
          <a:xfrm>
            <a:off x="13937040" y="6086520"/>
            <a:ext cx="916560" cy="37800"/>
          </a:xfrm>
          <a:prstGeom prst="roundRect">
            <a:avLst>
              <a:gd name="adj" fmla="val 50000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CustomShape 23"/>
          <p:cNvSpPr/>
          <p:nvPr/>
        </p:nvSpPr>
        <p:spPr>
          <a:xfrm>
            <a:off x="14987160" y="6086520"/>
            <a:ext cx="916560" cy="37800"/>
          </a:xfrm>
          <a:prstGeom prst="roundRect">
            <a:avLst>
              <a:gd name="adj" fmla="val 50000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CustomShape 24"/>
          <p:cNvSpPr/>
          <p:nvPr/>
        </p:nvSpPr>
        <p:spPr>
          <a:xfrm>
            <a:off x="16037280" y="6086520"/>
            <a:ext cx="916560" cy="37800"/>
          </a:xfrm>
          <a:prstGeom prst="roundRect">
            <a:avLst>
              <a:gd name="adj" fmla="val 50000"/>
            </a:avLst>
          </a:prstGeom>
          <a:solidFill>
            <a:srgbClr val="c8cfa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CustomShape 25"/>
          <p:cNvSpPr/>
          <p:nvPr/>
        </p:nvSpPr>
        <p:spPr>
          <a:xfrm>
            <a:off x="129528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0,05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0" name="CustomShape 26"/>
          <p:cNvSpPr/>
          <p:nvPr/>
        </p:nvSpPr>
        <p:spPr>
          <a:xfrm>
            <a:off x="234576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0,1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1" name="CustomShape 27"/>
          <p:cNvSpPr/>
          <p:nvPr/>
        </p:nvSpPr>
        <p:spPr>
          <a:xfrm>
            <a:off x="339588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0,25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2" name="CustomShape 28"/>
          <p:cNvSpPr/>
          <p:nvPr/>
        </p:nvSpPr>
        <p:spPr>
          <a:xfrm>
            <a:off x="444636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0,5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3" name="CustomShape 29"/>
          <p:cNvSpPr/>
          <p:nvPr/>
        </p:nvSpPr>
        <p:spPr>
          <a:xfrm>
            <a:off x="549648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1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4" name="CustomShape 30"/>
          <p:cNvSpPr/>
          <p:nvPr/>
        </p:nvSpPr>
        <p:spPr>
          <a:xfrm>
            <a:off x="654696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2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5" name="CustomShape 31"/>
          <p:cNvSpPr/>
          <p:nvPr/>
        </p:nvSpPr>
        <p:spPr>
          <a:xfrm>
            <a:off x="759708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5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6" name="CustomShape 32"/>
          <p:cNvSpPr/>
          <p:nvPr/>
        </p:nvSpPr>
        <p:spPr>
          <a:xfrm>
            <a:off x="864720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10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7" name="CustomShape 33"/>
          <p:cNvSpPr/>
          <p:nvPr/>
        </p:nvSpPr>
        <p:spPr>
          <a:xfrm>
            <a:off x="969768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30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8" name="CustomShape 34"/>
          <p:cNvSpPr/>
          <p:nvPr/>
        </p:nvSpPr>
        <p:spPr>
          <a:xfrm>
            <a:off x="1074780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60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29" name="CustomShape 35"/>
          <p:cNvSpPr/>
          <p:nvPr/>
        </p:nvSpPr>
        <p:spPr>
          <a:xfrm>
            <a:off x="1179828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120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30" name="CustomShape 36"/>
          <p:cNvSpPr/>
          <p:nvPr/>
        </p:nvSpPr>
        <p:spPr>
          <a:xfrm>
            <a:off x="1284840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300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31" name="CustomShape 37"/>
          <p:cNvSpPr/>
          <p:nvPr/>
        </p:nvSpPr>
        <p:spPr>
          <a:xfrm>
            <a:off x="1389888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600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32" name="CustomShape 38"/>
          <p:cNvSpPr/>
          <p:nvPr/>
        </p:nvSpPr>
        <p:spPr>
          <a:xfrm>
            <a:off x="1494900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1200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33" name="CustomShape 39"/>
          <p:cNvSpPr/>
          <p:nvPr/>
        </p:nvSpPr>
        <p:spPr>
          <a:xfrm>
            <a:off x="15999480" y="6257880"/>
            <a:ext cx="992880" cy="2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7a7e62"/>
                </a:solidFill>
                <a:latin typeface="Courier New"/>
                <a:ea typeface="Courier New"/>
              </a:rPr>
              <a:t>+∞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34" name="CustomShape 40"/>
          <p:cNvSpPr/>
          <p:nvPr/>
        </p:nvSpPr>
        <p:spPr>
          <a:xfrm>
            <a:off x="552600" y="6562800"/>
            <a:ext cx="17182800" cy="30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pc="-1" strike="noStrike">
                <a:solidFill>
                  <a:srgbClr val="9c9676"/>
                </a:solidFill>
                <a:latin typeface="Arial"/>
                <a:ea typeface="Arial"/>
              </a:rPr>
              <a:t>borne supérieure du bucket — durée en secondes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35" name="CustomShape 41"/>
          <p:cNvSpPr/>
          <p:nvPr/>
        </p:nvSpPr>
        <p:spPr>
          <a:xfrm>
            <a:off x="1333440" y="7534440"/>
            <a:ext cx="37800" cy="1418760"/>
          </a:xfrm>
          <a:prstGeom prst="rect">
            <a:avLst/>
          </a:prstGeom>
          <a:solidFill>
            <a:srgbClr val="8a9c1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CustomShape 42"/>
          <p:cNvSpPr/>
          <p:nvPr/>
        </p:nvSpPr>
        <p:spPr>
          <a:xfrm>
            <a:off x="1657440" y="7591320"/>
            <a:ext cx="8708040" cy="1342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84000"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fr-FR" sz="2250" spc="-1" strike="noStrike">
                <a:solidFill>
                  <a:srgbClr val="4c5d0d"/>
                </a:solidFill>
                <a:latin typeface="Arial"/>
                <a:ea typeface="Arial"/>
              </a:rPr>
              <a:t>≈ </a:t>
            </a:r>
            <a:r>
              <a:rPr b="1" lang="fr-FR" sz="2250" spc="-1" strike="noStrike">
                <a:solidFill>
                  <a:srgbClr val="4c5d0d"/>
                </a:solidFill>
                <a:latin typeface="Arial"/>
                <a:ea typeface="Arial"/>
              </a:rPr>
              <a:t>89 % </a:t>
            </a:r>
            <a:r>
              <a:rPr b="0" lang="fr-FR" sz="2250" spc="-1" strike="noStrike">
                <a:solidFill>
                  <a:srgbClr val="3c402a"/>
                </a:solidFill>
                <a:latin typeface="Arial"/>
                <a:ea typeface="Arial"/>
              </a:rPr>
              <a:t>des commandes s'exécutent en </a:t>
            </a:r>
            <a:r>
              <a:rPr b="1" lang="fr-FR" sz="2250" spc="-1" strike="noStrike">
                <a:solidFill>
                  <a:srgbClr val="4c5d0d"/>
                </a:solidFill>
                <a:latin typeface="Arial"/>
                <a:ea typeface="Arial"/>
              </a:rPr>
              <a:t>moins de 0,25 s </a:t>
            </a:r>
            <a:r>
              <a:rPr b="0" lang="fr-FR" sz="2250" spc="-1" strike="noStrike">
                <a:solidFill>
                  <a:srgbClr val="3c402a"/>
                </a:solidFill>
                <a:latin typeface="Arial"/>
                <a:ea typeface="Arial"/>
              </a:rPr>
              <a:t>. Une poignée de commandes très lentes — surtout des </a:t>
            </a:r>
            <a:r>
              <a:rPr b="0" i="1" lang="fr-FR" sz="2250" spc="-1" strike="noStrike">
                <a:solidFill>
                  <a:srgbClr val="3c402a"/>
                </a:solidFill>
                <a:latin typeface="Arial"/>
                <a:ea typeface="Arial"/>
              </a:rPr>
              <a:t>sync </a:t>
            </a:r>
            <a:r>
              <a:rPr b="0" lang="fr-FR" sz="2250" spc="-1" strike="noStrike">
                <a:solidFill>
                  <a:srgbClr val="3c402a"/>
                </a:solidFill>
                <a:latin typeface="Arial"/>
                <a:ea typeface="Arial"/>
              </a:rPr>
              <a:t>de gros assets Unreal — forme la longue traîne à droite.</a:t>
            </a:r>
            <a:endParaRPr b="0" lang="fr-FR" sz="2250" spc="-1" strike="noStrike">
              <a:latin typeface="Arial"/>
            </a:endParaRPr>
          </a:p>
        </p:txBody>
      </p:sp>
      <p:sp>
        <p:nvSpPr>
          <p:cNvPr id="337" name="CustomShape 43"/>
          <p:cNvSpPr/>
          <p:nvPr/>
        </p:nvSpPr>
        <p:spPr>
          <a:xfrm>
            <a:off x="10683720" y="7610400"/>
            <a:ext cx="3049200" cy="1266480"/>
          </a:xfrm>
          <a:prstGeom prst="roundRect">
            <a:avLst>
              <a:gd name="adj" fmla="val 3008"/>
            </a:avLst>
          </a:prstGeom>
          <a:solidFill>
            <a:srgbClr val="fcfbf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CustomShape 44"/>
          <p:cNvSpPr/>
          <p:nvPr/>
        </p:nvSpPr>
        <p:spPr>
          <a:xfrm>
            <a:off x="10683720" y="8867880"/>
            <a:ext cx="3049200" cy="900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CustomShape 45"/>
          <p:cNvSpPr/>
          <p:nvPr/>
        </p:nvSpPr>
        <p:spPr>
          <a:xfrm>
            <a:off x="10683720" y="7610400"/>
            <a:ext cx="3049200" cy="37800"/>
          </a:xfrm>
          <a:prstGeom prst="rect">
            <a:avLst/>
          </a:prstGeom>
          <a:solidFill>
            <a:srgbClr val="4c5d0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CustomShape 46"/>
          <p:cNvSpPr/>
          <p:nvPr/>
        </p:nvSpPr>
        <p:spPr>
          <a:xfrm>
            <a:off x="10683720" y="7610400"/>
            <a:ext cx="9000" cy="126648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CustomShape 47"/>
          <p:cNvSpPr/>
          <p:nvPr/>
        </p:nvSpPr>
        <p:spPr>
          <a:xfrm>
            <a:off x="13723920" y="7610400"/>
            <a:ext cx="9000" cy="126648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CustomShape 48"/>
          <p:cNvSpPr/>
          <p:nvPr/>
        </p:nvSpPr>
        <p:spPr>
          <a:xfrm>
            <a:off x="10772280" y="7877160"/>
            <a:ext cx="2872440" cy="41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3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3000" spc="-1" strike="noStrike">
                <a:solidFill>
                  <a:srgbClr val="4c5d0d"/>
                </a:solidFill>
                <a:latin typeface="Georgia"/>
                <a:ea typeface="Georgia"/>
              </a:rPr>
              <a:t>0,094 s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343" name="CustomShape 49"/>
          <p:cNvSpPr/>
          <p:nvPr/>
        </p:nvSpPr>
        <p:spPr>
          <a:xfrm>
            <a:off x="10772280" y="8353440"/>
            <a:ext cx="287244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80" spc="-1" strike="noStrike">
                <a:solidFill>
                  <a:srgbClr val="62674a"/>
                </a:solidFill>
                <a:latin typeface="Arial"/>
                <a:ea typeface="Arial"/>
              </a:rPr>
              <a:t>médiane (p50)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344" name="CustomShape 50"/>
          <p:cNvSpPr/>
          <p:nvPr/>
        </p:nvSpPr>
        <p:spPr>
          <a:xfrm>
            <a:off x="13905000" y="7610400"/>
            <a:ext cx="3049200" cy="1266480"/>
          </a:xfrm>
          <a:prstGeom prst="roundRect">
            <a:avLst>
              <a:gd name="adj" fmla="val 3008"/>
            </a:avLst>
          </a:prstGeom>
          <a:solidFill>
            <a:srgbClr val="fcfbf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CustomShape 51"/>
          <p:cNvSpPr/>
          <p:nvPr/>
        </p:nvSpPr>
        <p:spPr>
          <a:xfrm>
            <a:off x="13905000" y="8867880"/>
            <a:ext cx="3049200" cy="900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CustomShape 52"/>
          <p:cNvSpPr/>
          <p:nvPr/>
        </p:nvSpPr>
        <p:spPr>
          <a:xfrm>
            <a:off x="13905000" y="7610400"/>
            <a:ext cx="3049200" cy="37800"/>
          </a:xfrm>
          <a:prstGeom prst="rect">
            <a:avLst/>
          </a:prstGeom>
          <a:solidFill>
            <a:srgbClr val="a6431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CustomShape 53"/>
          <p:cNvSpPr/>
          <p:nvPr/>
        </p:nvSpPr>
        <p:spPr>
          <a:xfrm>
            <a:off x="13905000" y="7610400"/>
            <a:ext cx="9000" cy="126648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CustomShape 54"/>
          <p:cNvSpPr/>
          <p:nvPr/>
        </p:nvSpPr>
        <p:spPr>
          <a:xfrm>
            <a:off x="16944840" y="7610400"/>
            <a:ext cx="9000" cy="1266480"/>
          </a:xfrm>
          <a:prstGeom prst="rect">
            <a:avLst/>
          </a:prstGeom>
          <a:solidFill>
            <a:srgbClr val="e3dfd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CustomShape 55"/>
          <p:cNvSpPr/>
          <p:nvPr/>
        </p:nvSpPr>
        <p:spPr>
          <a:xfrm>
            <a:off x="13993200" y="7877160"/>
            <a:ext cx="2872440" cy="41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 fontScale="73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3000" spc="-1" strike="noStrike">
                <a:solidFill>
                  <a:srgbClr val="a6431f"/>
                </a:solidFill>
                <a:latin typeface="Georgia"/>
                <a:ea typeface="Georgia"/>
              </a:rPr>
              <a:t>7,36 s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350" name="CustomShape 56"/>
          <p:cNvSpPr/>
          <p:nvPr/>
        </p:nvSpPr>
        <p:spPr>
          <a:xfrm>
            <a:off x="13993200" y="8353440"/>
            <a:ext cx="2872440" cy="32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80" spc="-1" strike="noStrike">
                <a:solidFill>
                  <a:srgbClr val="62674a"/>
                </a:solidFill>
                <a:latin typeface="Arial"/>
                <a:ea typeface="Arial"/>
              </a:rPr>
              <a:t>moyenne (tirée par la traîne)</a:t>
            </a:r>
            <a:endParaRPr b="0" lang="fr-FR" sz="1580" spc="-1" strike="noStrike">
              <a:latin typeface="Arial"/>
            </a:endParaRPr>
          </a:p>
        </p:txBody>
      </p:sp>
      <p:sp>
        <p:nvSpPr>
          <p:cNvPr id="351" name="CustomShape 57"/>
          <p:cNvSpPr/>
          <p:nvPr/>
        </p:nvSpPr>
        <p:spPr>
          <a:xfrm>
            <a:off x="14074200" y="9629640"/>
            <a:ext cx="3168000" cy="25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350" spc="134" strike="noStrike">
                <a:solidFill>
                  <a:srgbClr val="9c9676"/>
                </a:solidFill>
                <a:latin typeface="Courier New"/>
                <a:ea typeface="Courier New"/>
              </a:rPr>
              <a:t>UQAC · Juin 2026 — 6 / 6</a:t>
            </a:r>
            <a:endParaRPr b="0" lang="fr-FR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LibreOffice/6.4.7.2$Linux_X86_64 LibreOffice_project/40$Build-2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2026-06-24T17:05:28Z</dcterms:created>
  <dc:creator>PptxGenJS</dc:creator>
  <dc:description/>
  <dc:language>fr-FR</dc:language>
  <cp:lastModifiedBy/>
  <dcterms:modified xsi:type="dcterms:W3CDTF">2026-06-25T10:13:48Z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6</vt:i4>
  </property>
  <property fmtid="{D5CDD505-2E9C-101B-9397-08002B2CF9AE}" pid="9" name="PresentationFormat">
    <vt:lpwstr>On-screen Show (16:9)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6</vt:i4>
  </property>
</Properties>
</file>